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6B"/>
        </a:solidFill>
      </p:bgPr>
    </p:bg>
    <p:spTree>
      <p:nvGrpSpPr>
        <p:cNvPr id="1" name=""/>
        <p:cNvGrpSpPr/>
        <p:nvPr/>
      </p:nvGrpSpPr>
      <p:grpSpPr>
        <a:xfrm>
          <a:off x="0" y="0"/>
          <a:ext cx="0" cy="0"/>
          <a:chOff x="0" y="0"/>
          <a:chExt cx="0" cy="0"/>
        </a:xfrm>
      </p:grpSpPr>
      <p:sp>
        <p:nvSpPr>
          <p:cNvPr id="2" name="Shape 0"/>
          <p:cNvSpPr/>
          <p:nvPr/>
        </p:nvSpPr>
        <p:spPr>
          <a:xfrm>
            <a:off x="11430000" y="0"/>
            <a:ext cx="731520" cy="6858000"/>
          </a:xfrm>
          <a:prstGeom prst="rect">
            <a:avLst/>
          </a:prstGeom>
          <a:solidFill>
            <a:srgbClr val="155F50"/>
          </a:solidFill>
          <a:ln w="12700">
            <a:solidFill>
              <a:srgbClr val="155F50"/>
            </a:solidFill>
            <a:prstDash val="solid"/>
          </a:ln>
        </p:spPr>
      </p:sp>
      <p:sp>
        <p:nvSpPr>
          <p:cNvPr id="3" name="Text 1"/>
          <p:cNvSpPr/>
          <p:nvPr/>
        </p:nvSpPr>
        <p:spPr>
          <a:xfrm>
            <a:off x="457200" y="274320"/>
            <a:ext cx="5486400" cy="274320"/>
          </a:xfrm>
          <a:prstGeom prst="rect">
            <a:avLst/>
          </a:prstGeom>
          <a:noFill/>
          <a:ln/>
        </p:spPr>
        <p:txBody>
          <a:bodyPr wrap="square" rtlCol="0" anchor="ctr"/>
          <a:lstStyle/>
          <a:p>
            <a:pPr indent="0" marL="0">
              <a:buNone/>
            </a:pPr>
            <a:r>
              <a:rPr lang="en-US" sz="1100" dirty="0">
                <a:solidFill>
                  <a:srgbClr val="5DD4B8"/>
                </a:solidFill>
                <a:latin typeface="メイリオ" pitchFamily="34" charset="0"/>
                <a:ea typeface="メイリオ" pitchFamily="34" charset="-122"/>
                <a:cs typeface="メイリオ" pitchFamily="34" charset="-120"/>
              </a:rPr>
              <a:t>大丸グループ</a:t>
            </a:r>
            <a:endParaRPr lang="en-US" sz="1100" dirty="0"/>
          </a:p>
        </p:txBody>
      </p:sp>
      <p:sp>
        <p:nvSpPr>
          <p:cNvPr id="4" name="Text 2"/>
          <p:cNvSpPr/>
          <p:nvPr/>
        </p:nvSpPr>
        <p:spPr>
          <a:xfrm>
            <a:off x="457200" y="777240"/>
            <a:ext cx="10515600" cy="1645920"/>
          </a:xfrm>
          <a:prstGeom prst="rect">
            <a:avLst/>
          </a:prstGeom>
          <a:noFill/>
          <a:ln/>
        </p:spPr>
        <p:txBody>
          <a:bodyPr wrap="square" rtlCol="0" anchor="ctr"/>
          <a:lstStyle/>
          <a:p>
            <a:pPr indent="0" marL="0">
              <a:lnSpc>
                <a:spcPct val="130000"/>
              </a:lnSpc>
              <a:buNone/>
            </a:pPr>
            <a:r>
              <a:rPr lang="en-US" sz="3400" b="1" dirty="0">
                <a:solidFill>
                  <a:srgbClr val="FFFFFF"/>
                </a:solidFill>
                <a:latin typeface="メイリオ" pitchFamily="34" charset="0"/>
                <a:ea typeface="メイリオ" pitchFamily="34" charset="-122"/>
                <a:cs typeface="メイリオ" pitchFamily="34" charset="-120"/>
              </a:rPr>
              <a:t>金融機関 質問・要望事項</a:t>
            </a:r>
            <a:endParaRPr lang="en-US" sz="3400" dirty="0"/>
          </a:p>
          <a:p>
            <a:pPr indent="0" marL="0">
              <a:lnSpc>
                <a:spcPct val="130000"/>
              </a:lnSpc>
              <a:buNone/>
            </a:pPr>
            <a:r>
              <a:rPr lang="en-US" sz="3400" b="1" dirty="0">
                <a:solidFill>
                  <a:srgbClr val="FFFFFF"/>
                </a:solidFill>
                <a:latin typeface="メイリオ" pitchFamily="34" charset="0"/>
                <a:ea typeface="メイリオ" pitchFamily="34" charset="-122"/>
                <a:cs typeface="メイリオ" pitchFamily="34" charset="-120"/>
              </a:rPr>
              <a:t>回答シート</a:t>
            </a:r>
            <a:endParaRPr lang="en-US" sz="3400" dirty="0"/>
          </a:p>
        </p:txBody>
      </p:sp>
      <p:sp>
        <p:nvSpPr>
          <p:cNvPr id="5" name="Shape 3"/>
          <p:cNvSpPr/>
          <p:nvPr/>
        </p:nvSpPr>
        <p:spPr>
          <a:xfrm>
            <a:off x="457200" y="2606040"/>
            <a:ext cx="6858000" cy="64008"/>
          </a:xfrm>
          <a:prstGeom prst="rect">
            <a:avLst/>
          </a:prstGeom>
          <a:solidFill>
            <a:srgbClr val="C8A84B"/>
          </a:solidFill>
          <a:ln w="12700">
            <a:solidFill>
              <a:srgbClr val="C8A84B"/>
            </a:solidFill>
            <a:prstDash val="solid"/>
          </a:ln>
        </p:spPr>
      </p:sp>
      <p:sp>
        <p:nvSpPr>
          <p:cNvPr id="6" name="Text 4"/>
          <p:cNvSpPr/>
          <p:nvPr/>
        </p:nvSpPr>
        <p:spPr>
          <a:xfrm>
            <a:off x="457200" y="2834640"/>
            <a:ext cx="10515600" cy="365760"/>
          </a:xfrm>
          <a:prstGeom prst="rect">
            <a:avLst/>
          </a:prstGeom>
          <a:noFill/>
          <a:ln/>
        </p:spPr>
        <p:txBody>
          <a:bodyPr wrap="square" rtlCol="0" anchor="ctr"/>
          <a:lstStyle/>
          <a:p>
            <a:pPr indent="0" marL="0">
              <a:buNone/>
            </a:pPr>
            <a:r>
              <a:rPr lang="en-US" sz="1200" dirty="0">
                <a:solidFill>
                  <a:srgbClr val="AAC4E0"/>
                </a:solidFill>
                <a:latin typeface="メイリオ" pitchFamily="34" charset="0"/>
                <a:ea typeface="メイリオ" pitchFamily="34" charset="-122"/>
                <a:cs typeface="メイリオ" pitchFamily="34" charset="-120"/>
              </a:rPr>
              <a:t>質問金融機関：日本政策金融公庫　｜　提出期限：2026年3月25日（水）</a:t>
            </a:r>
            <a:endParaRPr lang="en-US" sz="1200" dirty="0"/>
          </a:p>
        </p:txBody>
      </p:sp>
      <p:sp>
        <p:nvSpPr>
          <p:cNvPr id="7" name="Text 5"/>
          <p:cNvSpPr/>
          <p:nvPr/>
        </p:nvSpPr>
        <p:spPr>
          <a:xfrm>
            <a:off x="457200" y="3337560"/>
            <a:ext cx="9144000" cy="914400"/>
          </a:xfrm>
          <a:prstGeom prst="rect">
            <a:avLst/>
          </a:prstGeom>
          <a:noFill/>
          <a:ln/>
        </p:spPr>
        <p:txBody>
          <a:bodyPr wrap="square" rtlCol="0" anchor="ctr"/>
          <a:lstStyle/>
          <a:p>
            <a:pPr indent="0" marL="0">
              <a:lnSpc>
                <a:spcPct val="150000"/>
              </a:lnSpc>
              <a:buNone/>
            </a:pPr>
            <a:r>
              <a:rPr lang="en-US" sz="1200" dirty="0">
                <a:solidFill>
                  <a:srgbClr val="FFFFFF"/>
                </a:solidFill>
                <a:latin typeface="メイリオ" pitchFamily="34" charset="0"/>
                <a:ea typeface="メイリオ" pitchFamily="34" charset="-122"/>
                <a:cs typeface="メイリオ" pitchFamily="34" charset="-120"/>
              </a:rPr>
              <a:t>提出会社：株式会社大丸プランニング　代表取締役　江原 健次</a:t>
            </a:r>
            <a:endParaRPr lang="en-US" sz="1200" dirty="0"/>
          </a:p>
          <a:p>
            <a:pPr indent="0" marL="0">
              <a:lnSpc>
                <a:spcPct val="150000"/>
              </a:lnSpc>
              <a:buNone/>
            </a:pPr>
            <a:r>
              <a:rPr lang="en-US" sz="1200" dirty="0">
                <a:solidFill>
                  <a:srgbClr val="FFFFFF"/>
                </a:solidFill>
                <a:latin typeface="メイリオ" pitchFamily="34" charset="0"/>
                <a:ea typeface="メイリオ" pitchFamily="34" charset="-122"/>
                <a:cs typeface="メイリオ" pitchFamily="34" charset="-120"/>
              </a:rPr>
              <a:t>スポンサー：大丸実業株式会社</a:t>
            </a:r>
            <a:endParaRPr lang="en-US" sz="1200" dirty="0"/>
          </a:p>
          <a:p>
            <a:pPr indent="0" marL="0">
              <a:lnSpc>
                <a:spcPct val="150000"/>
              </a:lnSpc>
              <a:buNone/>
            </a:pPr>
            <a:r>
              <a:rPr lang="en-US" sz="1200" dirty="0">
                <a:solidFill>
                  <a:srgbClr val="FFFFFF"/>
                </a:solidFill>
                <a:latin typeface="メイリオ" pitchFamily="34" charset="0"/>
                <a:ea typeface="メイリオ" pitchFamily="34" charset="-122"/>
                <a:cs typeface="メイリオ" pitchFamily="34" charset="-120"/>
              </a:rPr>
              <a:t>提出先：鹿児島県中小企業活性化協議会</a:t>
            </a:r>
            <a:endParaRPr lang="en-US" sz="1200" dirty="0"/>
          </a:p>
        </p:txBody>
      </p:sp>
      <p:sp>
        <p:nvSpPr>
          <p:cNvPr id="8" name="Shape 6"/>
          <p:cNvSpPr/>
          <p:nvPr/>
        </p:nvSpPr>
        <p:spPr>
          <a:xfrm>
            <a:off x="457200" y="4663440"/>
            <a:ext cx="2377440" cy="502920"/>
          </a:xfrm>
          <a:prstGeom prst="rect">
            <a:avLst/>
          </a:prstGeom>
          <a:solidFill>
            <a:srgbClr val="1E6E5E"/>
          </a:solidFill>
          <a:ln w="12700">
            <a:solidFill>
              <a:srgbClr val="1E6E5E"/>
            </a:solidFill>
            <a:prstDash val="solid"/>
          </a:ln>
        </p:spPr>
      </p:sp>
      <p:sp>
        <p:nvSpPr>
          <p:cNvPr id="9" name="Text 7"/>
          <p:cNvSpPr/>
          <p:nvPr/>
        </p:nvSpPr>
        <p:spPr>
          <a:xfrm>
            <a:off x="457200" y="4663440"/>
            <a:ext cx="237744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メイリオ" pitchFamily="34" charset="0"/>
                <a:ea typeface="メイリオ" pitchFamily="34" charset="-122"/>
                <a:cs typeface="メイリオ" pitchFamily="34" charset="-120"/>
              </a:rPr>
              <a:t>全13問　回答シート</a:t>
            </a:r>
            <a:endParaRPr lang="en-US" sz="1200" dirty="0"/>
          </a:p>
        </p:txBody>
      </p:sp>
      <p:sp>
        <p:nvSpPr>
          <p:cNvPr id="10" name="Text 8"/>
          <p:cNvSpPr/>
          <p:nvPr/>
        </p:nvSpPr>
        <p:spPr>
          <a:xfrm>
            <a:off x="457200" y="6217920"/>
            <a:ext cx="3657600" cy="320040"/>
          </a:xfrm>
          <a:prstGeom prst="rect">
            <a:avLst/>
          </a:prstGeom>
          <a:noFill/>
          <a:ln/>
        </p:spPr>
        <p:txBody>
          <a:bodyPr wrap="square" rtlCol="0" anchor="ctr"/>
          <a:lstStyle/>
          <a:p>
            <a:pPr indent="0" marL="0">
              <a:buNone/>
            </a:pPr>
            <a:r>
              <a:rPr lang="en-US" sz="1100" dirty="0">
                <a:solidFill>
                  <a:srgbClr val="AAC4E0"/>
                </a:solidFill>
                <a:latin typeface="メイリオ" pitchFamily="34" charset="0"/>
                <a:ea typeface="メイリオ" pitchFamily="34" charset="-122"/>
                <a:cs typeface="メイリオ" pitchFamily="34" charset="-120"/>
              </a:rPr>
              <a:t>2026年3月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DDE3EC"/>
          </a:solidFill>
          <a:ln w="12700">
            <a:solidFill>
              <a:srgbClr val="DDE3EC"/>
            </a:solidFill>
            <a:prstDash val="solid"/>
          </a:ln>
        </p:spPr>
      </p:sp>
      <p:sp>
        <p:nvSpPr>
          <p:cNvPr id="3" name="Shape 1"/>
          <p:cNvSpPr/>
          <p:nvPr/>
        </p:nvSpPr>
        <p:spPr>
          <a:xfrm>
            <a:off x="457200" y="2743200"/>
            <a:ext cx="8229600" cy="54864"/>
          </a:xfrm>
          <a:prstGeom prst="rect">
            <a:avLst/>
          </a:prstGeom>
          <a:solidFill>
            <a:srgbClr val="C8A84B"/>
          </a:solidFill>
          <a:ln w="12700">
            <a:solidFill>
              <a:srgbClr val="C8A84B"/>
            </a:solidFill>
            <a:prstDash val="solid"/>
          </a:ln>
        </p:spPr>
      </p:sp>
      <p:sp>
        <p:nvSpPr>
          <p:cNvPr id="4" name="Text 2"/>
          <p:cNvSpPr/>
          <p:nvPr/>
        </p:nvSpPr>
        <p:spPr>
          <a:xfrm>
            <a:off x="731520" y="1645920"/>
            <a:ext cx="10972800" cy="1097280"/>
          </a:xfrm>
          <a:prstGeom prst="rect">
            <a:avLst/>
          </a:prstGeom>
          <a:noFill/>
          <a:ln/>
        </p:spPr>
        <p:txBody>
          <a:bodyPr wrap="square" rtlCol="0" anchor="ctr"/>
          <a:lstStyle/>
          <a:p>
            <a:pPr indent="0" marL="0">
              <a:buNone/>
            </a:pPr>
            <a:r>
              <a:rPr lang="en-US" sz="2400" b="1" dirty="0">
                <a:solidFill>
                  <a:srgbClr val="1A1A2E"/>
                </a:solidFill>
                <a:latin typeface="メイリオ" pitchFamily="34" charset="0"/>
                <a:ea typeface="メイリオ" pitchFamily="34" charset="-122"/>
                <a:cs typeface="メイリオ" pitchFamily="34" charset="-120"/>
              </a:rPr>
              <a:t>A　スポンサー候補について</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1</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回答済</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（1/2）</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649224"/>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594360"/>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大丸実業（株）に経理を委託している、大丸実業（株）代取藤崎社長が当社の取締役を兼任しているなどDD結果からは、当社と同社の関係性の深さが垣間見えます。それにもかかわらず、第２回バンクミーティングにおいて同社をスポンサーとしても利益相反にはならないとの説明がありましたが、その理由・根拠をご教示ください。</a:t>
            </a:r>
            <a:endParaRPr lang="en-US" sz="900" dirty="0"/>
          </a:p>
        </p:txBody>
      </p:sp>
      <p:sp>
        <p:nvSpPr>
          <p:cNvPr id="13" name="Shape 11"/>
          <p:cNvSpPr/>
          <p:nvPr/>
        </p:nvSpPr>
        <p:spPr>
          <a:xfrm>
            <a:off x="228600" y="1399032"/>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399032"/>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709928"/>
            <a:ext cx="11704320" cy="4892040"/>
          </a:xfrm>
          <a:prstGeom prst="rect">
            <a:avLst/>
          </a:prstGeom>
          <a:solidFill>
            <a:srgbClr val="FFFFFF"/>
          </a:solidFill>
          <a:ln w="12700">
            <a:solidFill>
              <a:srgbClr val="D0D8E8"/>
            </a:solidFill>
            <a:prstDash val="solid"/>
          </a:ln>
        </p:spPr>
      </p:sp>
      <p:sp>
        <p:nvSpPr>
          <p:cNvPr id="16" name="Text 14"/>
          <p:cNvSpPr/>
          <p:nvPr/>
        </p:nvSpPr>
        <p:spPr>
          <a:xfrm>
            <a:off x="320040" y="1755648"/>
            <a:ext cx="11521440" cy="4800600"/>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大丸実業株式会社は、大丸プランニングの大株主として約20年にわたり資本参加してきた長期的な支援者であり、今回のスポンサー参画は、この資本関係の延長線上にある形態です。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利益相反が生じないと判断する主な理由は以下の通りです。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① スポンサー選定は、鹿児島県中小企業活性化協議会の指導のもと、幅広い候補者を対象に金額面・事業面・雇用面を勘案したうえで行われており、選定プロセスの公正性が担保されています。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② スポンサー型再生においては、スポンサーは債権者への弁済原資を提供する立場にあり、その利益は金融機関等債権者の回収最大化と方向性が一致しております。大丸実業は、当社事業への長期関与と業界ノウハウを有しており、事業継続・雇用維持・債務弁済を最も実効的に実現できるスポンサーと判断してお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③ 藤崎代表取締役の当社取締役兼任につきましては、既に開示済みの事実であり、スポンサー選定において恣意的に有利に取り計らう立場にはなく、協議会の審査・承認のもとで手続きが進められております。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④ 債権放棄によるコミットメントの証明（第2回バンクミーティング議事録より）</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1</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回答済</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（2/2）</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649224"/>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594360"/>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大丸実業（株）に経理を委託している、大丸実業（株）代取藤崎社長が当社の取締役を兼任しているなどDD結果からは、当社と同社の関係性の深さが垣間見えます。それにもかかわらず、第２回バンクミーティングにおいて同社をスポンサーとしても利益相反にはならないとの説明がありましたが、その理由・根拠をご教示ください。</a:t>
            </a:r>
            <a:endParaRPr lang="en-US" sz="900" dirty="0"/>
          </a:p>
        </p:txBody>
      </p:sp>
      <p:sp>
        <p:nvSpPr>
          <p:cNvPr id="13" name="Shape 11"/>
          <p:cNvSpPr/>
          <p:nvPr/>
        </p:nvSpPr>
        <p:spPr>
          <a:xfrm>
            <a:off x="228600" y="1399032"/>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399032"/>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709928"/>
            <a:ext cx="11704320" cy="4892040"/>
          </a:xfrm>
          <a:prstGeom prst="rect">
            <a:avLst/>
          </a:prstGeom>
          <a:solidFill>
            <a:srgbClr val="FFFFFF"/>
          </a:solidFill>
          <a:ln w="12700">
            <a:solidFill>
              <a:srgbClr val="D0D8E8"/>
            </a:solidFill>
            <a:prstDash val="solid"/>
          </a:ln>
        </p:spPr>
      </p:sp>
      <p:sp>
        <p:nvSpPr>
          <p:cNvPr id="16" name="Text 14"/>
          <p:cNvSpPr/>
          <p:nvPr/>
        </p:nvSpPr>
        <p:spPr>
          <a:xfrm>
            <a:off x="320040" y="1755648"/>
            <a:ext cx="11521440" cy="4800600"/>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実業株式会社は当社に対して約200百万円の債権を、藤崎代表取締役は個人として40百万円の債権を有しております。両者はスポンサーへの参画にあたり、合計約240百万円の債権を全額放棄することを表明しております。この事実は第2回バンクミーティングにおいて湯ノ口代表弁護士及び宮原弁護士の双方が確認・説明しており、金融機関側の出席者も同席のもとで共有済み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利益相反」とは、ある当事者が自己利益を優先することで他者が不利益を被る構造を指します。しかし本件においてスポンサー候補である大丸実業株式会社は、自らが保有する正当な債権約240百万円を全額放棄したうえで支援に臨んでおります。これは自己利益の追求とは真逆の行動であり、経済合理性の観点からも他の債権者の回収最大化を優先する構造となってい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スポンサー候補の中で最も大きな経済的犠牲を自ら負う立場にある者が、自己利益のために計画を歪めるインセンティブを持つとは考えにくく、むしろそのコミットメントの深さこそが同社の適格性を裏付けるものと考えております。</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DDE3EC"/>
          </a:solidFill>
          <a:ln w="12700">
            <a:solidFill>
              <a:srgbClr val="DDE3EC"/>
            </a:solidFill>
            <a:prstDash val="solid"/>
          </a:ln>
        </p:spPr>
      </p:sp>
      <p:sp>
        <p:nvSpPr>
          <p:cNvPr id="3" name="Shape 1"/>
          <p:cNvSpPr/>
          <p:nvPr/>
        </p:nvSpPr>
        <p:spPr>
          <a:xfrm>
            <a:off x="457200" y="2743200"/>
            <a:ext cx="8229600" cy="54864"/>
          </a:xfrm>
          <a:prstGeom prst="rect">
            <a:avLst/>
          </a:prstGeom>
          <a:solidFill>
            <a:srgbClr val="C8A84B"/>
          </a:solidFill>
          <a:ln w="12700">
            <a:solidFill>
              <a:srgbClr val="C8A84B"/>
            </a:solidFill>
            <a:prstDash val="solid"/>
          </a:ln>
        </p:spPr>
      </p:sp>
      <p:sp>
        <p:nvSpPr>
          <p:cNvPr id="4" name="Text 2"/>
          <p:cNvSpPr/>
          <p:nvPr/>
        </p:nvSpPr>
        <p:spPr>
          <a:xfrm>
            <a:off x="731520" y="1645920"/>
            <a:ext cx="10972800" cy="1097280"/>
          </a:xfrm>
          <a:prstGeom prst="rect">
            <a:avLst/>
          </a:prstGeom>
          <a:noFill/>
          <a:ln/>
        </p:spPr>
        <p:txBody>
          <a:bodyPr wrap="square" rtlCol="0" anchor="ctr"/>
          <a:lstStyle/>
          <a:p>
            <a:pPr indent="0" marL="0">
              <a:buNone/>
            </a:pPr>
            <a:r>
              <a:rPr lang="en-US" sz="2400" b="1" dirty="0">
                <a:solidFill>
                  <a:srgbClr val="1A1A2E"/>
                </a:solidFill>
                <a:latin typeface="メイリオ" pitchFamily="34" charset="0"/>
                <a:ea typeface="メイリオ" pitchFamily="34" charset="-122"/>
                <a:cs typeface="メイリオ" pitchFamily="34" charset="-120"/>
              </a:rPr>
              <a:t>B　事業調査報告書 P14 ― 直近8期間における店舗別損益</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2</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要補完 ― 出店当時の実績数値が必要</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（1/3）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1148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35661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継続中の直営店につきまして、出店当時想定されていた損益計画と設備投資回収期間をご教示ください。</a:t>
            </a:r>
            <a:endParaRPr lang="en-US" sz="900" dirty="0"/>
          </a:p>
        </p:txBody>
      </p:sp>
      <p:sp>
        <p:nvSpPr>
          <p:cNvPr id="13" name="Shape 11"/>
          <p:cNvSpPr/>
          <p:nvPr/>
        </p:nvSpPr>
        <p:spPr>
          <a:xfrm>
            <a:off x="228600" y="1161288"/>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16128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472184"/>
            <a:ext cx="11704320" cy="5129784"/>
          </a:xfrm>
          <a:prstGeom prst="rect">
            <a:avLst/>
          </a:prstGeom>
          <a:solidFill>
            <a:srgbClr val="FFFFFF"/>
          </a:solidFill>
          <a:ln w="12700">
            <a:solidFill>
              <a:srgbClr val="D0D8E8"/>
            </a:solidFill>
            <a:prstDash val="solid"/>
          </a:ln>
        </p:spPr>
      </p:sp>
      <p:sp>
        <p:nvSpPr>
          <p:cNvPr id="16" name="Text 14"/>
          <p:cNvSpPr/>
          <p:nvPr/>
        </p:nvSpPr>
        <p:spPr>
          <a:xfrm>
            <a:off x="320040" y="1517904"/>
            <a:ext cx="11521440" cy="503834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継続中の直営4店舗における、出店当時に作成した事業計画書に基づく想定損益計画と設備投資回収期間は以下の通りです。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【北小金店】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事業計画書作成日：平成26年11月（平成27年7月出店）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初期投資合計　　：約6,500万円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必要資金回収高　：約6,369万円（敷金約84万円除く）</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自己資金／借入金：自己資金2,000万円 ／ 借入金5,000万円（7年返済）</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会費単価（想定）：8,100円/月</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【年次 想定営業利益と累計】単位：千円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1年目　11,797　　累計　11,797</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2年目　21,680　　累計　33,477</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3年目　23,121　　累計　56,598</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4年目　23,926　　累計　80,524　← 回収目標63,694千円を4年目に達成</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5年目　16,751　　累計　97,274</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設備投資回収期間：4年目に回収完了を想定</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【北浦和店】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事業計画書作成日：平成28年3月21日（同年4月出店）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初期投資合計　　：約8,169万円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必要資金回収高　：約7,781万円（敷金約383万円除く）</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自己資金／借入金：自己資金2,000万円 ／ 借入金7,000万円（8年返済）</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会費単価（想定）：7,800円/月</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【年次 想定営業利益と累計】単位：千円</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2</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要補完 ― 出店当時の実績数値が必要</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（2/3）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1148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35661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継続中の直営店につきまして、出店当時想定されていた損益計画と設備投資回収期間をご教示ください。</a:t>
            </a:r>
            <a:endParaRPr lang="en-US" sz="900" dirty="0"/>
          </a:p>
        </p:txBody>
      </p:sp>
      <p:sp>
        <p:nvSpPr>
          <p:cNvPr id="13" name="Shape 11"/>
          <p:cNvSpPr/>
          <p:nvPr/>
        </p:nvSpPr>
        <p:spPr>
          <a:xfrm>
            <a:off x="228600" y="1161288"/>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16128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472184"/>
            <a:ext cx="11704320" cy="5129784"/>
          </a:xfrm>
          <a:prstGeom prst="rect">
            <a:avLst/>
          </a:prstGeom>
          <a:solidFill>
            <a:srgbClr val="FFFFFF"/>
          </a:solidFill>
          <a:ln w="12700">
            <a:solidFill>
              <a:srgbClr val="D0D8E8"/>
            </a:solidFill>
            <a:prstDash val="solid"/>
          </a:ln>
        </p:spPr>
      </p:sp>
      <p:sp>
        <p:nvSpPr>
          <p:cNvPr id="16" name="Text 14"/>
          <p:cNvSpPr/>
          <p:nvPr/>
        </p:nvSpPr>
        <p:spPr>
          <a:xfrm>
            <a:off x="320040" y="1517904"/>
            <a:ext cx="11521440" cy="503834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1年目　11,331　　累計　11,331</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2年目　24,309　　累計　35,640</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3年目　24,426　　累計　60,066</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4年目　24,456　　累計　84,522　← 回収目標77,809千円を4年目に達成</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5年目　24,356　　累計　108,878</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6〜9年目　各約2,430万円前後で安定推移</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設備投資回収期間：4年目に回収完了を想定</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【東久留米店】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事業計画書作成日：平成28年7月20日（同年11月16日出店）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初期投資合計　　：約7,808万円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必要資金回収高　：約7,568万円（敷金240万円除く）</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自己資金／借入金：自己資金なし ／ 借入金7,000万円（8年返済）</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会費単価（想定）：7,825円/月</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【年次 想定営業利益と累計】単位：千円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1年目　10,901　　累計　10,901</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2年目　22,809　　累計　33,710</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3年目　21,594　　累計　55,304</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4年目　20,389　　累計　75,693　← 回収目標75,675千円を4年目に達成</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5年目　19,614　　累計　95,307</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6〜9年目　各約1,925〜1,968万円で安定推移</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設備投資回収期間：4年目に回収完了を想定</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2</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要補完 ― 出店当時の実績数値が必要</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（3/3）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1148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35661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継続中の直営店につきまして、出店当時想定されていた損益計画と設備投資回収期間をご教示ください。</a:t>
            </a:r>
            <a:endParaRPr lang="en-US" sz="900" dirty="0"/>
          </a:p>
        </p:txBody>
      </p:sp>
      <p:sp>
        <p:nvSpPr>
          <p:cNvPr id="13" name="Shape 11"/>
          <p:cNvSpPr/>
          <p:nvPr/>
        </p:nvSpPr>
        <p:spPr>
          <a:xfrm>
            <a:off x="228600" y="1161288"/>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16128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472184"/>
            <a:ext cx="11704320" cy="5129784"/>
          </a:xfrm>
          <a:prstGeom prst="rect">
            <a:avLst/>
          </a:prstGeom>
          <a:solidFill>
            <a:srgbClr val="FFFFFF"/>
          </a:solidFill>
          <a:ln w="12700">
            <a:solidFill>
              <a:srgbClr val="D0D8E8"/>
            </a:solidFill>
            <a:prstDash val="solid"/>
          </a:ln>
        </p:spPr>
      </p:sp>
      <p:sp>
        <p:nvSpPr>
          <p:cNvPr id="16" name="Text 14"/>
          <p:cNvSpPr/>
          <p:nvPr/>
        </p:nvSpPr>
        <p:spPr>
          <a:xfrm>
            <a:off x="320040" y="1517904"/>
            <a:ext cx="11521440" cy="503834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【三ノ輪店】※当店は令和6年5月の再出店時事業計画に基づく</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再出店事業計画　：令和6年5月OPEN（移転再出店）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初期投資合計　　：約3,514万円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必要資金回収高　：約3,077万円（敷金約485万円除く）</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自己資金／借入金：自己資金のみ（借入なし）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会費単価（想定）：8,514円/月</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【年次 想定営業利益（償却前）と累計】単位：千円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1年目（開業半年）　▲4,765　　累計　▲4,765　　　※開業費一括計上による赤字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2年目　　5,863　　累計　1,098</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3年目　11,888　　累計　12,987</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4年目　11,574　　累計　24,561</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5年目　12,005　　累計　36,566　← 回収目標30,774千円を5年目に達成</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6年目　11,981　　累計　48,548</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7年目　11,942　　累計　60,490</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設備投資回収期間：5年目に回収完了を想定</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【想定との乖離の主因】</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北小金・北浦和・東久留米の3店舗は、いずれも出店から4年目（2019〜2020年頃）に設備投資の回収完了を見込んでいました。しかし、令和2年（2020年）からの新型コロナウイルス感染症の蔓延により、回収完了の直前・直後に退会者の急増・新規会員獲得の停滞が重なり、計画通りの回収が阻害されました。</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コロナ終息後においては、昨今のピラティスブームによる会員数回復が続いており、現在は黒字転換・改善傾向にありますが（P45・P54の損益状況参照）、過去の累積赤字により財務の回復には引き続き時間を要する状況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三ノ輪店は令和6年5月の再出店であり、コロナ禍の影響を受けた既存3店舗とは状況が異なります。引き続き計画通りの推移を見込んでおります。</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3</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要補完 ― 数値を補完後完成</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（1/3）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1148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35661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継続中の直営店につきまして、今後見込まれる損益計画と設備投資回収期間をご教示ください。</a:t>
            </a:r>
            <a:endParaRPr lang="en-US" sz="900" dirty="0"/>
          </a:p>
        </p:txBody>
      </p:sp>
      <p:sp>
        <p:nvSpPr>
          <p:cNvPr id="13" name="Shape 11"/>
          <p:cNvSpPr/>
          <p:nvPr/>
        </p:nvSpPr>
        <p:spPr>
          <a:xfrm>
            <a:off x="228600" y="1161288"/>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16128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472184"/>
            <a:ext cx="11704320" cy="5129784"/>
          </a:xfrm>
          <a:prstGeom prst="rect">
            <a:avLst/>
          </a:prstGeom>
          <a:solidFill>
            <a:srgbClr val="FFFFFF"/>
          </a:solidFill>
          <a:ln w="12700">
            <a:solidFill>
              <a:srgbClr val="D0D8E8"/>
            </a:solidFill>
            <a:prstDash val="solid"/>
          </a:ln>
        </p:spPr>
      </p:sp>
      <p:sp>
        <p:nvSpPr>
          <p:cNvPr id="16" name="Text 14"/>
          <p:cNvSpPr/>
          <p:nvPr/>
        </p:nvSpPr>
        <p:spPr>
          <a:xfrm>
            <a:off x="320040" y="1517904"/>
            <a:ext cx="11521440" cy="503834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大丸プランニング株式会社として、以下の通り回答いたします。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【設備投資回収期間について】</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継続中の直営4店舗については、今後新たな大規模設備投資は予定しておりません。したがって、本質問における「設備投資回収期間」は、回収対象となる新規投資が存在しないため該当いたしません。既存設備の減価償却は順次進行しており、固定費負担は逓減していく見込み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【今後の損益計画】</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継続中の直営4店舗について、今後の損益改善施策と収益見込みは以下の通りです。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【基本方針】</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現時点において大規模な設備投資は予定しておりません。既存店舗の収益力向上を主軸に、以下の２つの施策を実施します。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【施策①：全店 レッスン内製化によるコスト削減】</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業務委託インストラクターのレッスンフィーは1時間あたり約4,500円です。現在、各店舗の社員構成は1〜2名となっており、社員自身のレッスン担当工数を高めることで委託料を削減する計画を推進中です。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目標：1店舗あたり週7本のレッスンを社員が担当（内製化）</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効果試算（1店舗あたり）：</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委託レッスン削減数　週7本 × 4週 ＝ 月28本</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削減コスト　　　　　28本 × 4,500円 ＝ 月 約126,000円（年間 約151万円）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全4店舗合計削減額　　　　　　　　　　年間 約604万円</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【施策②：全店舗 月額料金の値上げ（2027年1月実施）】</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3</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要補完 ― 数値を補完後完成</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（2/3）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1148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35661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継続中の直営店につきまして、今後見込まれる損益計画と設備投資回収期間をご教示ください。</a:t>
            </a:r>
            <a:endParaRPr lang="en-US" sz="900" dirty="0"/>
          </a:p>
        </p:txBody>
      </p:sp>
      <p:sp>
        <p:nvSpPr>
          <p:cNvPr id="13" name="Shape 11"/>
          <p:cNvSpPr/>
          <p:nvPr/>
        </p:nvSpPr>
        <p:spPr>
          <a:xfrm>
            <a:off x="228600" y="1161288"/>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16128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472184"/>
            <a:ext cx="11704320" cy="5129784"/>
          </a:xfrm>
          <a:prstGeom prst="rect">
            <a:avLst/>
          </a:prstGeom>
          <a:solidFill>
            <a:srgbClr val="FFFFFF"/>
          </a:solidFill>
          <a:ln w="12700">
            <a:solidFill>
              <a:srgbClr val="D0D8E8"/>
            </a:solidFill>
            <a:prstDash val="solid"/>
          </a:ln>
        </p:spPr>
      </p:sp>
      <p:sp>
        <p:nvSpPr>
          <p:cNvPr id="16" name="Text 14"/>
          <p:cNvSpPr/>
          <p:nvPr/>
        </p:nvSpPr>
        <p:spPr>
          <a:xfrm>
            <a:off x="320040" y="1517904"/>
            <a:ext cx="11521440" cy="503834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昨今の光熱費の高騰および物価上昇等の社会的背景を踏まえ、全直営店において月額料金を300円〜500円引き上げます。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値上げ幅　：300円〜500円／月（社会情勢に応じて設定）</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対象会員数：全店合計 約1,600名</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月次増収試算：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300円値上げ時　→ 約48万円／月（年間 約576万円）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500円値上げ時　→ 約80万円／月（年間 約960万円）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実施時期　：2027年1月（確定）</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退会影響　：直近の値上げ実績において大幅な退会増は確認されておらず、同水準の影響を想定</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【店舗別 営業利益計画】単位：千円</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23期（予）  24期（計）  25期（計）  主な改善施策</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北小金店              767      2,500      3,800    LINE集客強化・値上げ・内製化</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北浦和店              855      2,800      4,200    継続的コスト削減・在籍増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東久留米店          ▲1,016        800      2,000    内製化によるコスト削減</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三ノ輪店             5,582      7,200      8,500    最大収益店・横展開推進</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3</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要補完 ― 数値を補完後完成</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（3/3）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1148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35661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継続中の直営店につきまして、今後見込まれる損益計画と設備投資回収期間をご教示ください。</a:t>
            </a:r>
            <a:endParaRPr lang="en-US" sz="900" dirty="0"/>
          </a:p>
        </p:txBody>
      </p:sp>
      <p:sp>
        <p:nvSpPr>
          <p:cNvPr id="13" name="Shape 11"/>
          <p:cNvSpPr/>
          <p:nvPr/>
        </p:nvSpPr>
        <p:spPr>
          <a:xfrm>
            <a:off x="228600" y="1161288"/>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16128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472184"/>
            <a:ext cx="11704320" cy="5129784"/>
          </a:xfrm>
          <a:prstGeom prst="rect">
            <a:avLst/>
          </a:prstGeom>
          <a:solidFill>
            <a:srgbClr val="FFFFFF"/>
          </a:solidFill>
          <a:ln w="12700">
            <a:solidFill>
              <a:srgbClr val="D0D8E8"/>
            </a:solidFill>
            <a:prstDash val="solid"/>
          </a:ln>
        </p:spPr>
      </p:sp>
      <p:sp>
        <p:nvSpPr>
          <p:cNvPr id="16" name="Text 14"/>
          <p:cNvSpPr/>
          <p:nvPr/>
        </p:nvSpPr>
        <p:spPr>
          <a:xfrm>
            <a:off x="320040" y="1517904"/>
            <a:ext cx="11521440" cy="503834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合計                 6,188     13,300     18,500</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【施策③：大丸実業との統合による本部経費の削減】</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現状、東京本部（年間約60百万円）と鹿児島本部（年間約6百万円）が別々に運用されており、作業の約7割が重複しています。事業譲渡後、以下の通り本部経費を削減します。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【鹿児島本部経費の内訳と削減見込み】単位：万円/年</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費目                    月額　　　　年額　　　削減見込み</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会計業務委託料           250,000円　300万円　→　大丸実業の経理部門へ統合により削減</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役員報酬（鹿児島）        150,000円　180万円　→　体制見直しにより削減検討</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会計ソフト使用料           15,000円　 18万円　→　システム統合により削減</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瀬貫会計事務所             30,000円　 48万円（決算手数料12万含む）→　大丸実業側で一本化</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かさも労務士事務所          50,000円　 60万円　→　大丸実業の契約へ統合</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鹿児島本部経費 合計     495,000円　606万円　→　統合後 大幅削減見込み</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大丸実業との統合による削減効果（見込み）：年間 約600万円以上</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これは値上げ施策による年間増収（576万〜960万円）と同水準の収益改善効果であり、売上拡大と経費削減の両輪で本部経費70百万円の圧縮を目指します。</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DDE3EC"/>
          </a:solidFill>
          <a:ln w="12700">
            <a:solidFill>
              <a:srgbClr val="DDE3EC"/>
            </a:solidFill>
            <a:prstDash val="solid"/>
          </a:ln>
        </p:spPr>
      </p:sp>
      <p:sp>
        <p:nvSpPr>
          <p:cNvPr id="3" name="Shape 1"/>
          <p:cNvSpPr/>
          <p:nvPr/>
        </p:nvSpPr>
        <p:spPr>
          <a:xfrm>
            <a:off x="457200" y="2743200"/>
            <a:ext cx="8229600" cy="54864"/>
          </a:xfrm>
          <a:prstGeom prst="rect">
            <a:avLst/>
          </a:prstGeom>
          <a:solidFill>
            <a:srgbClr val="C8A84B"/>
          </a:solidFill>
          <a:ln w="12700">
            <a:solidFill>
              <a:srgbClr val="C8A84B"/>
            </a:solidFill>
            <a:prstDash val="solid"/>
          </a:ln>
        </p:spPr>
      </p:sp>
      <p:sp>
        <p:nvSpPr>
          <p:cNvPr id="4" name="Text 2"/>
          <p:cNvSpPr/>
          <p:nvPr/>
        </p:nvSpPr>
        <p:spPr>
          <a:xfrm>
            <a:off x="731520" y="1645920"/>
            <a:ext cx="10972800" cy="1097280"/>
          </a:xfrm>
          <a:prstGeom prst="rect">
            <a:avLst/>
          </a:prstGeom>
          <a:noFill/>
          <a:ln/>
        </p:spPr>
        <p:txBody>
          <a:bodyPr wrap="square" rtlCol="0" anchor="ctr"/>
          <a:lstStyle/>
          <a:p>
            <a:pPr indent="0" marL="0">
              <a:buNone/>
            </a:pPr>
            <a:r>
              <a:rPr lang="en-US" sz="2400" b="1" dirty="0">
                <a:solidFill>
                  <a:srgbClr val="1A1A2E"/>
                </a:solidFill>
                <a:latin typeface="メイリオ" pitchFamily="34" charset="0"/>
                <a:ea typeface="メイリオ" pitchFamily="34" charset="-122"/>
                <a:cs typeface="メイリオ" pitchFamily="34" charset="-120"/>
              </a:rPr>
              <a:t>C　事業調査報告書 P45・P54 ― 損益の状況</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4</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P45 北浦和店 ― 回答済（会計士武田）</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（1/3）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93776"/>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438912"/>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R6/5及びR7/5それぞれ単月でほぼ１年分の赤字を計上している理由を教えてください。基調が変わらなければ、たとえ「令和７年６月から１１月までの６ヵ月は、償却前営業利益がプラス」だとしても、R8/5期もマイナスになると思われます。</a:t>
            </a:r>
            <a:endParaRPr lang="en-US" sz="900" dirty="0"/>
          </a:p>
        </p:txBody>
      </p:sp>
      <p:sp>
        <p:nvSpPr>
          <p:cNvPr id="13" name="Shape 11"/>
          <p:cNvSpPr/>
          <p:nvPr/>
        </p:nvSpPr>
        <p:spPr>
          <a:xfrm>
            <a:off x="228600" y="1243584"/>
            <a:ext cx="11704320" cy="310896"/>
          </a:xfrm>
          <a:prstGeom prst="rect">
            <a:avLst/>
          </a:prstGeom>
          <a:solidFill>
            <a:srgbClr val="2D6A4F"/>
          </a:solidFill>
          <a:ln w="12700">
            <a:solidFill>
              <a:srgbClr val="2D6A4F"/>
            </a:solidFill>
            <a:prstDash val="solid"/>
          </a:ln>
        </p:spPr>
      </p:sp>
      <p:sp>
        <p:nvSpPr>
          <p:cNvPr id="14" name="Text 12"/>
          <p:cNvSpPr/>
          <p:nvPr/>
        </p:nvSpPr>
        <p:spPr>
          <a:xfrm>
            <a:off x="320040" y="1243584"/>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武田会計士（RtoCパートナーズ）の初期回答</a:t>
            </a:r>
            <a:endParaRPr lang="en-US" sz="1000" dirty="0"/>
          </a:p>
        </p:txBody>
      </p:sp>
      <p:sp>
        <p:nvSpPr>
          <p:cNvPr id="15" name="Shape 13"/>
          <p:cNvSpPr/>
          <p:nvPr/>
        </p:nvSpPr>
        <p:spPr>
          <a:xfrm>
            <a:off x="228600" y="1554480"/>
            <a:ext cx="11704320" cy="5047488"/>
          </a:xfrm>
          <a:prstGeom prst="rect">
            <a:avLst/>
          </a:prstGeom>
          <a:solidFill>
            <a:srgbClr val="E8F4F0"/>
          </a:solidFill>
          <a:ln w="12700">
            <a:solidFill>
              <a:srgbClr val="B8DDD0"/>
            </a:solidFill>
            <a:prstDash val="solid"/>
          </a:ln>
        </p:spPr>
      </p:sp>
      <p:sp>
        <p:nvSpPr>
          <p:cNvPr id="16" name="Text 14"/>
          <p:cNvSpPr/>
          <p:nvPr/>
        </p:nvSpPr>
        <p:spPr>
          <a:xfrm>
            <a:off x="320040" y="1600200"/>
            <a:ext cx="11521440" cy="4956048"/>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直近の業績改善の主な内容は下記の通りです。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①会員数の増加</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②客単価の上昇</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①につきましては、昨今のピラティスブームに伴い会員数が増加しております。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②につきましては、令和7年7月に月額料金を約300円引き上げたためです。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①ピラティス人気が落ち着いた場合には会員数が減少する可能性があり、その場合には赤字となる可能性はあります。なお、②客単価引き上げに伴う退会者数の大幅の増加は現時点ではありません。</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4</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P45 北浦和店 ― 回答済（会計士武田）</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（2/3）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93776"/>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438912"/>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R6/5及びR7/5それぞれ単月でほぼ１年分の赤字を計上している理由を教えてください。基調が変わらなければ、たとえ「令和７年６月から１１月までの６ヵ月は、償却前営業利益がプラス」だとしても、R8/5期もマイナスになると思われます。</a:t>
            </a:r>
            <a:endParaRPr lang="en-US" sz="900" dirty="0"/>
          </a:p>
        </p:txBody>
      </p:sp>
      <p:sp>
        <p:nvSpPr>
          <p:cNvPr id="13" name="Shape 11"/>
          <p:cNvSpPr/>
          <p:nvPr/>
        </p:nvSpPr>
        <p:spPr>
          <a:xfrm>
            <a:off x="228600" y="1243584"/>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243584"/>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554480"/>
            <a:ext cx="11704320" cy="5047488"/>
          </a:xfrm>
          <a:prstGeom prst="rect">
            <a:avLst/>
          </a:prstGeom>
          <a:solidFill>
            <a:srgbClr val="FFFFFF"/>
          </a:solidFill>
          <a:ln w="12700">
            <a:solidFill>
              <a:srgbClr val="D0D8E8"/>
            </a:solidFill>
            <a:prstDash val="solid"/>
          </a:ln>
        </p:spPr>
      </p:sp>
      <p:sp>
        <p:nvSpPr>
          <p:cNvPr id="16" name="Text 14"/>
          <p:cNvSpPr/>
          <p:nvPr/>
        </p:nvSpPr>
        <p:spPr>
          <a:xfrm>
            <a:off x="320040" y="1600200"/>
            <a:ext cx="11521440" cy="4956048"/>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R6/5及びR7/5に単月でほぼ1年分の赤字が計上された主な理由は、5月末決算期末に年次費用が一括計上されるためです。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【単月大幅赤字の構造的要因】</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当社の決算期は5月末であり、以下の費用が期末に集中して計上されます。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①　減価償却費の年次一括計上</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固定資産台帳（令和7年6月〜令和8年5月期）によれば、当期の減価償却費合計は17,526,104円（約1,753万円）です。この全額が5月末決算月に集中計上されるため、単月の損益が大幅なマイナスとなります。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内訳：</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建物付属設備　　：13,971,323円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構築物　　　　　：　 224,138円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工具器具及び備品：　2,771,476円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ソフトウェア　　：　 559,167円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合計　　　　　　：17,526,104円</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②　年次保険料・修繕費・その他年次費用の一括計上</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年払いの保険料、定期修繕費、その他年次経費が期末月に集中します。</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4</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P45 北浦和店 ― 回答済（会計士武田）</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（3/3）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93776"/>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438912"/>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R6/5及びR7/5それぞれ単月でほぼ１年分の赤字を計上している理由を教えてください。基調が変わらなければ、たとえ「令和７年６月から１１月までの６ヵ月は、償却前営業利益がプラス」だとしても、R8/5期もマイナスになると思われます。</a:t>
            </a:r>
            <a:endParaRPr lang="en-US" sz="900" dirty="0"/>
          </a:p>
        </p:txBody>
      </p:sp>
      <p:sp>
        <p:nvSpPr>
          <p:cNvPr id="13" name="Shape 11"/>
          <p:cNvSpPr/>
          <p:nvPr/>
        </p:nvSpPr>
        <p:spPr>
          <a:xfrm>
            <a:off x="228600" y="1243584"/>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243584"/>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554480"/>
            <a:ext cx="11704320" cy="5047488"/>
          </a:xfrm>
          <a:prstGeom prst="rect">
            <a:avLst/>
          </a:prstGeom>
          <a:solidFill>
            <a:srgbClr val="FFFFFF"/>
          </a:solidFill>
          <a:ln w="12700">
            <a:solidFill>
              <a:srgbClr val="D0D8E8"/>
            </a:solidFill>
            <a:prstDash val="solid"/>
          </a:ln>
        </p:spPr>
      </p:sp>
      <p:sp>
        <p:nvSpPr>
          <p:cNvPr id="16" name="Text 14"/>
          <p:cNvSpPr/>
          <p:nvPr/>
        </p:nvSpPr>
        <p:spPr>
          <a:xfrm>
            <a:off x="320040" y="1600200"/>
            <a:ext cx="11521440" cy="4956048"/>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このため、月次ベースで見ると償却前営業利益がプラスであっても、減価償却費約1,753万円をはじめとする年次費用の一括計上により5月末の単月損益が大幅なマイナスとなる構造となっております。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【R8/5期の見通しについて】</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減価償却費は毎期ほぼ同額（約1,753万円）が5月末に計上される見込みです。ただし、収益改善施策（値上げ・内製化・会員増）の効果により通期の営業利益は改善傾向にあり、R8/5期の通期損益については黒字化を目指しております。詳細な数値計画については事業計画趨勢表（作成中）にてご提示いた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【直近の改善状況（北浦和店）】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令和7年6月〜11月（6ヶ月）：償却前営業利益はプラスに転じています。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改善要因：①ピラティスブームによる会員数増加、②令和7年7月の月額料金値上げ（約300円）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①ピラティス人気が落ち着いた場合には会員数が減少し赤字となる可能性があります。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②客単価引き上げに伴う退会者数の大幅な増加は現時点ではありません。</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5</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P54 北小金店 ― 回答済（会計士武田）</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（1/2）</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1148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35661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（Q4・北浦和店と）同上</a:t>
            </a:r>
            <a:endParaRPr lang="en-US" sz="900" dirty="0"/>
          </a:p>
        </p:txBody>
      </p:sp>
      <p:sp>
        <p:nvSpPr>
          <p:cNvPr id="13" name="Shape 11"/>
          <p:cNvSpPr/>
          <p:nvPr/>
        </p:nvSpPr>
        <p:spPr>
          <a:xfrm>
            <a:off x="228600" y="1161288"/>
            <a:ext cx="11704320" cy="310896"/>
          </a:xfrm>
          <a:prstGeom prst="rect">
            <a:avLst/>
          </a:prstGeom>
          <a:solidFill>
            <a:srgbClr val="2D6A4F"/>
          </a:solidFill>
          <a:ln w="12700">
            <a:solidFill>
              <a:srgbClr val="2D6A4F"/>
            </a:solidFill>
            <a:prstDash val="solid"/>
          </a:ln>
        </p:spPr>
      </p:sp>
      <p:sp>
        <p:nvSpPr>
          <p:cNvPr id="14" name="Text 12"/>
          <p:cNvSpPr/>
          <p:nvPr/>
        </p:nvSpPr>
        <p:spPr>
          <a:xfrm>
            <a:off x="320040" y="116128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武田会計士（RtoCパートナーズ）の初期回答</a:t>
            </a:r>
            <a:endParaRPr lang="en-US" sz="1000" dirty="0"/>
          </a:p>
        </p:txBody>
      </p:sp>
      <p:sp>
        <p:nvSpPr>
          <p:cNvPr id="15" name="Shape 13"/>
          <p:cNvSpPr/>
          <p:nvPr/>
        </p:nvSpPr>
        <p:spPr>
          <a:xfrm>
            <a:off x="228600" y="1472184"/>
            <a:ext cx="11704320" cy="5129784"/>
          </a:xfrm>
          <a:prstGeom prst="rect">
            <a:avLst/>
          </a:prstGeom>
          <a:solidFill>
            <a:srgbClr val="E8F4F0"/>
          </a:solidFill>
          <a:ln w="12700">
            <a:solidFill>
              <a:srgbClr val="B8DDD0"/>
            </a:solidFill>
            <a:prstDash val="solid"/>
          </a:ln>
        </p:spPr>
      </p:sp>
      <p:sp>
        <p:nvSpPr>
          <p:cNvPr id="16" name="Text 14"/>
          <p:cNvSpPr/>
          <p:nvPr/>
        </p:nvSpPr>
        <p:spPr>
          <a:xfrm>
            <a:off x="320040" y="1517904"/>
            <a:ext cx="11521440" cy="503834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（Q4・北浦和店と）同上。</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直近の業績改善内容：①会員数の増加（ピラティスブーム）、②客単価の上昇（令和7年7月値上げ）。</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詳細はQ4（北浦和店）の回答を参照。</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5</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P54 北小金店 ― 回答済（会計士武田）</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（2/2）</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1148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35661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（Q4・北浦和店と）同上</a:t>
            </a:r>
            <a:endParaRPr lang="en-US" sz="900" dirty="0"/>
          </a:p>
        </p:txBody>
      </p:sp>
      <p:sp>
        <p:nvSpPr>
          <p:cNvPr id="13" name="Shape 11"/>
          <p:cNvSpPr/>
          <p:nvPr/>
        </p:nvSpPr>
        <p:spPr>
          <a:xfrm>
            <a:off x="228600" y="1161288"/>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16128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472184"/>
            <a:ext cx="11704320" cy="5129784"/>
          </a:xfrm>
          <a:prstGeom prst="rect">
            <a:avLst/>
          </a:prstGeom>
          <a:solidFill>
            <a:srgbClr val="FFFFFF"/>
          </a:solidFill>
          <a:ln w="12700">
            <a:solidFill>
              <a:srgbClr val="D0D8E8"/>
            </a:solidFill>
            <a:prstDash val="solid"/>
          </a:ln>
        </p:spPr>
      </p:sp>
      <p:sp>
        <p:nvSpPr>
          <p:cNvPr id="16" name="Text 14"/>
          <p:cNvSpPr/>
          <p:nvPr/>
        </p:nvSpPr>
        <p:spPr>
          <a:xfrm>
            <a:off x="320040" y="1517904"/>
            <a:ext cx="11521440" cy="503834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北小金店についても、北浦和店（Q4）と同様の理由です。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R6/5及びR7/5に単月でほぼ1年分の赤字が計上された主な理由は、5月末決算期末に減価償却費をはじめとする年次費用が一括計上されるためです。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固定資産台帳によれば、当期（令和7年6月〜令和8年5月）の減価償却費合計は17,526,104円（約1,753万円）であり、この全額が5月末に集中計上されます。月次ベースでは償却前営業利益がプラスであっても、これら年次費用の集中計上により5月末単月の損益が大幅なマイナスとなる構造となってお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【直近の改善状況（北小金店）】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令和7年11月期：償却前営業利益 約0.3百万円の黒字計上。ピラティスブームによる会員増加が黒字化の要因です。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①ピラティス人気が落ち着いた場合には会員数が減少し赤字となる可能性があります。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②客単価引き上げに伴う退会者数の大幅な増加は現時点ではありません。</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R8/5期についても同様に期末の年次費用一括計上によりマイナスとなる可能性はありますが、通期ベースでの黒字化を目指しております。詳細は事業計画趨勢表（作成中）にてご提示いたします。</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DDE3EC"/>
          </a:solidFill>
          <a:ln w="12700">
            <a:solidFill>
              <a:srgbClr val="DDE3EC"/>
            </a:solidFill>
            <a:prstDash val="solid"/>
          </a:ln>
        </p:spPr>
      </p:sp>
      <p:sp>
        <p:nvSpPr>
          <p:cNvPr id="3" name="Shape 1"/>
          <p:cNvSpPr/>
          <p:nvPr/>
        </p:nvSpPr>
        <p:spPr>
          <a:xfrm>
            <a:off x="457200" y="2743200"/>
            <a:ext cx="8229600" cy="54864"/>
          </a:xfrm>
          <a:prstGeom prst="rect">
            <a:avLst/>
          </a:prstGeom>
          <a:solidFill>
            <a:srgbClr val="C8A84B"/>
          </a:solidFill>
          <a:ln w="12700">
            <a:solidFill>
              <a:srgbClr val="C8A84B"/>
            </a:solidFill>
            <a:prstDash val="solid"/>
          </a:ln>
        </p:spPr>
      </p:sp>
      <p:sp>
        <p:nvSpPr>
          <p:cNvPr id="4" name="Text 2"/>
          <p:cNvSpPr/>
          <p:nvPr/>
        </p:nvSpPr>
        <p:spPr>
          <a:xfrm>
            <a:off x="731520" y="1645920"/>
            <a:ext cx="10972800" cy="1097280"/>
          </a:xfrm>
          <a:prstGeom prst="rect">
            <a:avLst/>
          </a:prstGeom>
          <a:noFill/>
          <a:ln/>
        </p:spPr>
        <p:txBody>
          <a:bodyPr wrap="square" rtlCol="0" anchor="ctr"/>
          <a:lstStyle/>
          <a:p>
            <a:pPr indent="0" marL="0">
              <a:buNone/>
            </a:pPr>
            <a:r>
              <a:rPr lang="en-US" sz="2400" b="1" dirty="0">
                <a:solidFill>
                  <a:srgbClr val="1A1A2E"/>
                </a:solidFill>
                <a:latin typeface="メイリオ" pitchFamily="34" charset="0"/>
                <a:ea typeface="メイリオ" pitchFamily="34" charset="-122"/>
                <a:cs typeface="メイリオ" pitchFamily="34" charset="-120"/>
              </a:rPr>
              <a:t>D　事業調査報告書 P118 ― 新規出店・経営改善施策</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6</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新規出店 ― 回答済（会計士武田）</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（1/4）</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96012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90525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本社経費が既存店だけでは賄えないため新規出店により再建を果たす方向性との由ですが、①直近２年足らずで直営店（タルサウナラボ麻布十番店）を撤退されたこと、②三ノ輪店以外の直営店は赤字であったこと、③たとえ小型でも新規出店には資金調達が必要になること、④大丸実業をスポンサーとした場合は売上増加やコスト削減といったシナジー効果が見込めないことを踏まえると、その実現可能性に疑問を感じます。私的整理前・後の施策の違いを明確にお示しいただきながら、再建計画の実現可能性を説明し尽していただかないと、計画同意の意義が見いだせないと認識しています。</a:t>
            </a:r>
            <a:endParaRPr lang="en-US" sz="900" dirty="0"/>
          </a:p>
        </p:txBody>
      </p:sp>
      <p:sp>
        <p:nvSpPr>
          <p:cNvPr id="13" name="Shape 11"/>
          <p:cNvSpPr/>
          <p:nvPr/>
        </p:nvSpPr>
        <p:spPr>
          <a:xfrm>
            <a:off x="228600" y="1709928"/>
            <a:ext cx="11704320" cy="310896"/>
          </a:xfrm>
          <a:prstGeom prst="rect">
            <a:avLst/>
          </a:prstGeom>
          <a:solidFill>
            <a:srgbClr val="2D6A4F"/>
          </a:solidFill>
          <a:ln w="12700">
            <a:solidFill>
              <a:srgbClr val="2D6A4F"/>
            </a:solidFill>
            <a:prstDash val="solid"/>
          </a:ln>
        </p:spPr>
      </p:sp>
      <p:sp>
        <p:nvSpPr>
          <p:cNvPr id="14" name="Text 12"/>
          <p:cNvSpPr/>
          <p:nvPr/>
        </p:nvSpPr>
        <p:spPr>
          <a:xfrm>
            <a:off x="320040" y="170992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武田会計士（RtoCパートナーズ）の初期回答</a:t>
            </a:r>
            <a:endParaRPr lang="en-US" sz="1000" dirty="0"/>
          </a:p>
        </p:txBody>
      </p:sp>
      <p:sp>
        <p:nvSpPr>
          <p:cNvPr id="15" name="Shape 13"/>
          <p:cNvSpPr/>
          <p:nvPr/>
        </p:nvSpPr>
        <p:spPr>
          <a:xfrm>
            <a:off x="228600" y="2020824"/>
            <a:ext cx="11704320" cy="4581144"/>
          </a:xfrm>
          <a:prstGeom prst="rect">
            <a:avLst/>
          </a:prstGeom>
          <a:solidFill>
            <a:srgbClr val="E8F4F0"/>
          </a:solidFill>
          <a:ln w="12700">
            <a:solidFill>
              <a:srgbClr val="B8DDD0"/>
            </a:solidFill>
            <a:prstDash val="solid"/>
          </a:ln>
        </p:spPr>
      </p:sp>
      <p:sp>
        <p:nvSpPr>
          <p:cNvPr id="16" name="Text 14"/>
          <p:cNvSpPr/>
          <p:nvPr/>
        </p:nvSpPr>
        <p:spPr>
          <a:xfrm>
            <a:off x="320040" y="2066544"/>
            <a:ext cx="11521440" cy="448970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本件は自力再生ではなく、スポンサー型再生と理解しております。そのため、シナジー効果や各種経営改善施策はスポンサー企業が判断し決定するものと理解しております。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プランニングとして作成する再生計画においては、幅広くスポンサー候補を募り、金額面や事業面、雇用面等を勘案したうえでスポンサー選定を行い、当該スポンサーによる提案内容に基づく経済合理性でご判断いただく計画となる見込み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ただ、一方でスポンサーへの事業譲渡後において事業が継続することが私的整理の前提であると思いますので、事業譲渡の施策や数値計画については、再生計画とは別にスポンサーとしての施策・数値計画を提出いただくことになるものと考えております（大丸プランニングには事業譲渡の施策等の決定権限がないため）。</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大丸プランニングが作成する再生計画書及びスポンサーから提出される今後の計画に基づいて、ご検討いただきたく存じます。</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6</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新規出店 ― 回答済（会計士武田）</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（2/4）</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96012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90525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本社経費が既存店だけでは賄えないため新規出店により再建を果たす方向性との由ですが、①直近２年足らずで直営店（タルサウナラボ麻布十番店）を撤退されたこと、②三ノ輪店以外の直営店は赤字であったこと、③たとえ小型でも新規出店には資金調達が必要になること、④大丸実業をスポンサーとした場合は売上増加やコスト削減といったシナジー効果が見込めないことを踏まえると、その実現可能性に疑問を感じます。私的整理前・後の施策の違いを明確にお示しいただきながら、再建計画の実現可能性を説明し尽していただかないと、計画同意の意義が見いだせないと認識しています。</a:t>
            </a:r>
            <a:endParaRPr lang="en-US" sz="900" dirty="0"/>
          </a:p>
        </p:txBody>
      </p:sp>
      <p:sp>
        <p:nvSpPr>
          <p:cNvPr id="13" name="Shape 11"/>
          <p:cNvSpPr/>
          <p:nvPr/>
        </p:nvSpPr>
        <p:spPr>
          <a:xfrm>
            <a:off x="228600" y="1709928"/>
            <a:ext cx="11704320" cy="310896"/>
          </a:xfrm>
          <a:prstGeom prst="rect">
            <a:avLst/>
          </a:prstGeom>
          <a:solidFill>
            <a:srgbClr val="155F50"/>
          </a:solidFill>
          <a:ln w="12700">
            <a:solidFill>
              <a:srgbClr val="155F50"/>
            </a:solidFill>
            <a:prstDash val="solid"/>
          </a:ln>
        </p:spPr>
      </p:sp>
      <p:sp>
        <p:nvSpPr>
          <p:cNvPr id="14" name="Text 12"/>
          <p:cNvSpPr/>
          <p:nvPr/>
        </p:nvSpPr>
        <p:spPr>
          <a:xfrm>
            <a:off x="320040" y="170992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大丸実業株式会社（スポンサー）の追加回答</a:t>
            </a:r>
            <a:endParaRPr lang="en-US" sz="1000" dirty="0"/>
          </a:p>
        </p:txBody>
      </p:sp>
      <p:sp>
        <p:nvSpPr>
          <p:cNvPr id="15" name="Shape 13"/>
          <p:cNvSpPr/>
          <p:nvPr/>
        </p:nvSpPr>
        <p:spPr>
          <a:xfrm>
            <a:off x="228600" y="2020824"/>
            <a:ext cx="11704320" cy="4581144"/>
          </a:xfrm>
          <a:prstGeom prst="rect">
            <a:avLst/>
          </a:prstGeom>
          <a:solidFill>
            <a:srgbClr val="FFFFFF"/>
          </a:solidFill>
          <a:ln w="12700">
            <a:solidFill>
              <a:srgbClr val="D0D8E8"/>
            </a:solidFill>
            <a:prstDash val="solid"/>
          </a:ln>
        </p:spPr>
      </p:sp>
      <p:sp>
        <p:nvSpPr>
          <p:cNvPr id="16" name="Text 14"/>
          <p:cNvSpPr/>
          <p:nvPr/>
        </p:nvSpPr>
        <p:spPr>
          <a:xfrm>
            <a:off x="320040" y="2066544"/>
            <a:ext cx="11521440" cy="448970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スポンサーである大丸実業株式会社として、私的整理前・後の施策の違いを以下の通り明示した上で、再建計画の実現可能性をご説明いたします。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【私的整理前・後の根本的な違い】</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整理前（現状）</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・有利子負債約707百万円の返済負担により、キャッシュフローのほぼ全額が返済に消える状況</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・本部経費約70百万円を既存店舗収益だけでは賄えず、赤字が構造的に継続</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・攻めの投資（新規出店・事業拡大）が不可能な「守り」の経営状態</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・自力再生は不可能（弁護士・会計士の判断）</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整理後（大丸実業スポンサー参画後）</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・大丸実業の債権200百万円＋藤崎個人の債権40百万円 合計240百万円を全額放棄</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 返済負担の大幅軽減によりキャッシュフローが抜本的に改善</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・本部経費の統合（東京・鹿児島の重複業務7割を整理）により年間約600万円以上を削減</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 収益体質が強化され、既存店舗収益で本部経費を賄える体制へ転換</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・財務状況の改善により、以下の「攻め」の施策が展開可能になる</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【整理後に展開可能となる施策】</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ハード面：小型店舗による収益基盤の拡大</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6</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新規出店 ― 回答済（会計士武田）</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（3/4）</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96012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90525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本社経費が既存店だけでは賄えないため新規出店により再建を果たす方向性との由ですが、①直近２年足らずで直営店（タルサウナラボ麻布十番店）を撤退されたこと、②三ノ輪店以外の直営店は赤字であったこと、③たとえ小型でも新規出店には資金調達が必要になること、④大丸実業をスポンサーとした場合は売上増加やコスト削減といったシナジー効果が見込めないことを踏まえると、その実現可能性に疑問を感じます。私的整理前・後の施策の違いを明確にお示しいただきながら、再建計画の実現可能性を説明し尽していただかないと、計画同意の意義が見いだせないと認識しています。</a:t>
            </a:r>
            <a:endParaRPr lang="en-US" sz="900" dirty="0"/>
          </a:p>
        </p:txBody>
      </p:sp>
      <p:sp>
        <p:nvSpPr>
          <p:cNvPr id="13" name="Shape 11"/>
          <p:cNvSpPr/>
          <p:nvPr/>
        </p:nvSpPr>
        <p:spPr>
          <a:xfrm>
            <a:off x="228600" y="1709928"/>
            <a:ext cx="11704320" cy="310896"/>
          </a:xfrm>
          <a:prstGeom prst="rect">
            <a:avLst/>
          </a:prstGeom>
          <a:solidFill>
            <a:srgbClr val="155F50"/>
          </a:solidFill>
          <a:ln w="12700">
            <a:solidFill>
              <a:srgbClr val="155F50"/>
            </a:solidFill>
            <a:prstDash val="solid"/>
          </a:ln>
        </p:spPr>
      </p:sp>
      <p:sp>
        <p:nvSpPr>
          <p:cNvPr id="14" name="Text 12"/>
          <p:cNvSpPr/>
          <p:nvPr/>
        </p:nvSpPr>
        <p:spPr>
          <a:xfrm>
            <a:off x="320040" y="170992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大丸実業株式会社（スポンサー）の追加回答</a:t>
            </a:r>
            <a:endParaRPr lang="en-US" sz="1000" dirty="0"/>
          </a:p>
        </p:txBody>
      </p:sp>
      <p:sp>
        <p:nvSpPr>
          <p:cNvPr id="15" name="Shape 13"/>
          <p:cNvSpPr/>
          <p:nvPr/>
        </p:nvSpPr>
        <p:spPr>
          <a:xfrm>
            <a:off x="228600" y="2020824"/>
            <a:ext cx="11704320" cy="4581144"/>
          </a:xfrm>
          <a:prstGeom prst="rect">
            <a:avLst/>
          </a:prstGeom>
          <a:solidFill>
            <a:srgbClr val="FFFFFF"/>
          </a:solidFill>
          <a:ln w="12700">
            <a:solidFill>
              <a:srgbClr val="D0D8E8"/>
            </a:solidFill>
            <a:prstDash val="solid"/>
          </a:ln>
        </p:spPr>
      </p:sp>
      <p:sp>
        <p:nvSpPr>
          <p:cNvPr id="16" name="Text 14"/>
          <p:cNvSpPr/>
          <p:nvPr/>
        </p:nvSpPr>
        <p:spPr>
          <a:xfrm>
            <a:off x="320040" y="2066544"/>
            <a:ext cx="11521440" cy="448970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これまでは有利子負債の返済負担により新規投資が不可能でした。スポンサー参画後は、大丸実業の自己資金（金融機関借入なし）により、15〜25坪・約1,446万円の小型パーソナルピラティス店舗を年3〜5店舗展開いたします。4年目以降の安定期には1店舗あたり営業利益率25%超を見込んでおり、3年で9〜15店舗、総粗利 約2,800〜4,700万円の収益基盤を構築いたします。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ソフト面：ノウハウのライセンス化による原価ゼロの高利益率収益</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大丸プランニングが約20年をかけて構築したピラティス・健康産業のノウハウ（プログラム・マニュアル・マスタートレーナーネットワーク）を、関連企業・施設向けにライセンス・養成・派遣として販売いたします。在庫を持たず、施設も不要で、既存のコンテンツ資産を活用するため原価がほぼ発生しません。具体的には以下の高利益率事業が展開可能とな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①インストラクター養成事業（利益率約50%）：年間売上240万円・粗利120万円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②インストラクター派遣事業（利益率約50%）：2026年2施設→2028年6施設展開</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6</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新規出店 ― 回答済（会計士武田）</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（4/4）</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960120"/>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90525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本社経費が既存店だけでは賄えないため新規出店により再建を果たす方向性との由ですが、①直近２年足らずで直営店（タルサウナラボ麻布十番店）を撤退されたこと、②三ノ輪店以外の直営店は赤字であったこと、③たとえ小型でも新規出店には資金調達が必要になること、④大丸実業をスポンサーとした場合は売上増加やコスト削減といったシナジー効果が見込めないことを踏まえると、その実現可能性に疑問を感じます。私的整理前・後の施策の違いを明確にお示しいただきながら、再建計画の実現可能性を説明し尽していただかないと、計画同意の意義が見いだせないと認識しています。</a:t>
            </a:r>
            <a:endParaRPr lang="en-US" sz="900" dirty="0"/>
          </a:p>
        </p:txBody>
      </p:sp>
      <p:sp>
        <p:nvSpPr>
          <p:cNvPr id="13" name="Shape 11"/>
          <p:cNvSpPr/>
          <p:nvPr/>
        </p:nvSpPr>
        <p:spPr>
          <a:xfrm>
            <a:off x="228600" y="1709928"/>
            <a:ext cx="11704320" cy="310896"/>
          </a:xfrm>
          <a:prstGeom prst="rect">
            <a:avLst/>
          </a:prstGeom>
          <a:solidFill>
            <a:srgbClr val="155F50"/>
          </a:solidFill>
          <a:ln w="12700">
            <a:solidFill>
              <a:srgbClr val="155F50"/>
            </a:solidFill>
            <a:prstDash val="solid"/>
          </a:ln>
        </p:spPr>
      </p:sp>
      <p:sp>
        <p:nvSpPr>
          <p:cNvPr id="14" name="Text 12"/>
          <p:cNvSpPr/>
          <p:nvPr/>
        </p:nvSpPr>
        <p:spPr>
          <a:xfrm>
            <a:off x="320040" y="170992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大丸実業株式会社（スポンサー）の追加回答</a:t>
            </a:r>
            <a:endParaRPr lang="en-US" sz="1000" dirty="0"/>
          </a:p>
        </p:txBody>
      </p:sp>
      <p:sp>
        <p:nvSpPr>
          <p:cNvPr id="15" name="Shape 13"/>
          <p:cNvSpPr/>
          <p:nvPr/>
        </p:nvSpPr>
        <p:spPr>
          <a:xfrm>
            <a:off x="228600" y="2020824"/>
            <a:ext cx="11704320" cy="4581144"/>
          </a:xfrm>
          <a:prstGeom prst="rect">
            <a:avLst/>
          </a:prstGeom>
          <a:solidFill>
            <a:srgbClr val="FFFFFF"/>
          </a:solidFill>
          <a:ln w="12700">
            <a:solidFill>
              <a:srgbClr val="D0D8E8"/>
            </a:solidFill>
            <a:prstDash val="solid"/>
          </a:ln>
        </p:spPr>
      </p:sp>
      <p:sp>
        <p:nvSpPr>
          <p:cNvPr id="16" name="Text 14"/>
          <p:cNvSpPr/>
          <p:nvPr/>
        </p:nvSpPr>
        <p:spPr>
          <a:xfrm>
            <a:off x="320040" y="2066544"/>
            <a:ext cx="11521440" cy="448970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主要クライアント：三井不動産・東京ドーム（柏の葉）・住友不動産・三田施設</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③ライセンスロイヤルティ（利益率ほぼ100%）：法人導入社数の拡大により安定収入</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これらソフト事業は、スポンサー参画後に財務が安定したからこそ展開できる施策であり、私的整理前には着手すら困難な状況でした。</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【3カ年での収益改善見通し】（別添 大丸グループ事業計画書より）</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2026年度 粗利合計：約1,097万円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2027年度 粗利合計：約3,638万円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2028年度 粗利合計：約5,586万円</a:t>
            </a:r>
            <a:endParaRPr lang="en-US" sz="900" dirty="0"/>
          </a:p>
          <a:p>
            <a:pPr indent="0" marL="0">
              <a:lnSpc>
                <a:spcPct val="130000"/>
              </a:lnSpc>
              <a:buNone/>
            </a:pP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【ご指摘①〜④への個別回答】</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ご指摘の①〜④の懸念事項につきまして、スポンサーの立場から以下の通り説明いたします。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① タルサウナラボ麻布十番店の撤退について</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当該出店は、コロナ禍において複数人での入浴リスクが高まる中、個室で安心して利用できるサウナという新たな収益事業を構築する目的で実施したものです。また、同事業は事業再構築補助金（56百万円）を活用しての取り組みでした。</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しかしながら、アフターコロナの実態として「個室で入浴する意義が薄れた」ことにより集客が計画を大きく下回り、撤退の判断に至りました。当該補助金はすでに譲受者が承継しており、当社への返還義務は発生しておりません。</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大丸実業が今後展開する小型ピラティススタジオは、10年以上の直営運営実績を持つ既存事業の横展開であり、未経験業態への参入リスクとは根本的に異なります。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② 三ノ輪店以外の直営店が赤字であったことについて</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現時点において、直営4店舗の収益状況は大きく改善しております。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直近（令和8年2月）では、東久留米店の単月損益がわずか▲3万円にまで縮小しており、それ以外の北小金店・北浦和店・三ノ輪店はすべて黒字に転換しています。コロナ禍以降、継続的な収益改善が進んでおり、スポンサー統合後の経費削減効果（本部経費約606万円/年の削減）が加わることで、4店舗合計での黒字化は十分に実現可能と判断してお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③ 新規出店には資金調達が必要になることについて</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今回の新規出店は、従来型（50〜60百万円/店）とは全く異なる小型モデル（約1,446万円/店）を採用します。この水準は大丸実業の自己資金で対応可能であり、金融機関への新規借入は一切予定しておりません。</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④ 大丸実業スポンサーとしてのシナジー効果について</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実業は約20年にわたり大丸プランニングと事業を共同推進してきた実質的な経営母体であり、従業員・顧客・ノウハウをすべて掌握しております。事業譲渡後は本部経費の統合（年間約606万円削減）・インストラクター養成・マシン販売・FC展開等の多角的な収益事業により、具体的なシナジー効果を創出いたします。詳細は別途提出の「大丸グループ事業計画書（スポンサー計画）」をご参照ください。</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7</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新規出店 設備資金 ― 回答済（会計士武田）</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（1/3）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93776"/>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438912"/>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事業調査報告書P110「設備投資の状況」によれば、新規出店には造作等の設備投資により、１店舗あたり50〜60百万円の設備資金を投入する必要があるようですが、当該施策を採用する場合、当該設備資金の調達計画についてご明示ください。</a:t>
            </a:r>
            <a:endParaRPr lang="en-US" sz="900" dirty="0"/>
          </a:p>
        </p:txBody>
      </p:sp>
      <p:sp>
        <p:nvSpPr>
          <p:cNvPr id="13" name="Shape 11"/>
          <p:cNvSpPr/>
          <p:nvPr/>
        </p:nvSpPr>
        <p:spPr>
          <a:xfrm>
            <a:off x="228600" y="1243584"/>
            <a:ext cx="11704320" cy="310896"/>
          </a:xfrm>
          <a:prstGeom prst="rect">
            <a:avLst/>
          </a:prstGeom>
          <a:solidFill>
            <a:srgbClr val="2D6A4F"/>
          </a:solidFill>
          <a:ln w="12700">
            <a:solidFill>
              <a:srgbClr val="2D6A4F"/>
            </a:solidFill>
            <a:prstDash val="solid"/>
          </a:ln>
        </p:spPr>
      </p:sp>
      <p:sp>
        <p:nvSpPr>
          <p:cNvPr id="14" name="Text 12"/>
          <p:cNvSpPr/>
          <p:nvPr/>
        </p:nvSpPr>
        <p:spPr>
          <a:xfrm>
            <a:off x="320040" y="1243584"/>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武田会計士（RtoCパートナーズ）の初期回答</a:t>
            </a:r>
            <a:endParaRPr lang="en-US" sz="1000" dirty="0"/>
          </a:p>
        </p:txBody>
      </p:sp>
      <p:sp>
        <p:nvSpPr>
          <p:cNvPr id="15" name="Shape 13"/>
          <p:cNvSpPr/>
          <p:nvPr/>
        </p:nvSpPr>
        <p:spPr>
          <a:xfrm>
            <a:off x="228600" y="1554480"/>
            <a:ext cx="11704320" cy="5047488"/>
          </a:xfrm>
          <a:prstGeom prst="rect">
            <a:avLst/>
          </a:prstGeom>
          <a:solidFill>
            <a:srgbClr val="E8F4F0"/>
          </a:solidFill>
          <a:ln w="12700">
            <a:solidFill>
              <a:srgbClr val="B8DDD0"/>
            </a:solidFill>
            <a:prstDash val="solid"/>
          </a:ln>
        </p:spPr>
      </p:sp>
      <p:sp>
        <p:nvSpPr>
          <p:cNvPr id="16" name="Text 14"/>
          <p:cNvSpPr/>
          <p:nvPr/>
        </p:nvSpPr>
        <p:spPr>
          <a:xfrm>
            <a:off x="320040" y="1600200"/>
            <a:ext cx="11521440" cy="4956048"/>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本件は、スポンサー型再生のため、事業調査報告書記載の経営改善施策は参考情報となります。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新規出店を含む具体的な施策につきましては、スポンサーが判断することになりますので、スポンサー作成の計画に基づいてご判断いただければと考えております。</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7</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新規出店 設備資金 ― 回答済（会計士武田）</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（2/3）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93776"/>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438912"/>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事業調査報告書P110「設備投資の状況」によれば、新規出店には造作等の設備投資により、１店舗あたり50〜60百万円の設備資金を投入する必要があるようですが、当該施策を採用する場合、当該設備資金の調達計画についてご明示ください。</a:t>
            </a:r>
            <a:endParaRPr lang="en-US" sz="900" dirty="0"/>
          </a:p>
        </p:txBody>
      </p:sp>
      <p:sp>
        <p:nvSpPr>
          <p:cNvPr id="13" name="Shape 11"/>
          <p:cNvSpPr/>
          <p:nvPr/>
        </p:nvSpPr>
        <p:spPr>
          <a:xfrm>
            <a:off x="228600" y="1243584"/>
            <a:ext cx="11704320" cy="310896"/>
          </a:xfrm>
          <a:prstGeom prst="rect">
            <a:avLst/>
          </a:prstGeom>
          <a:solidFill>
            <a:srgbClr val="155F50"/>
          </a:solidFill>
          <a:ln w="12700">
            <a:solidFill>
              <a:srgbClr val="155F50"/>
            </a:solidFill>
            <a:prstDash val="solid"/>
          </a:ln>
        </p:spPr>
      </p:sp>
      <p:sp>
        <p:nvSpPr>
          <p:cNvPr id="14" name="Text 12"/>
          <p:cNvSpPr/>
          <p:nvPr/>
        </p:nvSpPr>
        <p:spPr>
          <a:xfrm>
            <a:off x="320040" y="1243584"/>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大丸実業株式会社（スポンサー）の追加回答</a:t>
            </a:r>
            <a:endParaRPr lang="en-US" sz="1000" dirty="0"/>
          </a:p>
        </p:txBody>
      </p:sp>
      <p:sp>
        <p:nvSpPr>
          <p:cNvPr id="15" name="Shape 13"/>
          <p:cNvSpPr/>
          <p:nvPr/>
        </p:nvSpPr>
        <p:spPr>
          <a:xfrm>
            <a:off x="228600" y="1554480"/>
            <a:ext cx="11704320" cy="5047488"/>
          </a:xfrm>
          <a:prstGeom prst="rect">
            <a:avLst/>
          </a:prstGeom>
          <a:solidFill>
            <a:srgbClr val="FFFFFF"/>
          </a:solidFill>
          <a:ln w="12700">
            <a:solidFill>
              <a:srgbClr val="D0D8E8"/>
            </a:solidFill>
            <a:prstDash val="solid"/>
          </a:ln>
        </p:spPr>
      </p:sp>
      <p:sp>
        <p:nvSpPr>
          <p:cNvPr id="16" name="Text 14"/>
          <p:cNvSpPr/>
          <p:nvPr/>
        </p:nvSpPr>
        <p:spPr>
          <a:xfrm>
            <a:off x="320040" y="1600200"/>
            <a:ext cx="11521440" cy="4956048"/>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スポンサーである大丸実業株式会社として、以下の通り回答いたします。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新規出店における設備資金は、大丸実業株式会社の自己資金により賄います。金融機関への新規借入は一切予定しておりません。</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【出店モデルの転換】</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第2回バンクミーティングにおいて江原代表取締役が説明した通り、従来型（50〜80坪・初期投資約4,000万円）の大型投資モデルは採用しません。15〜25坪の小型パーソナルピラティス特化型スタジオへ完全転換し、1店舗あたりの初期投資を大幅に圧縮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【1店舗あたり初期投資計画】（別添 事業計画書より）</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内装設備工事費　：500万円（5年定額償却・月額約8.3万円）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開業費（広告・人件費・マシン・音響等）：766万円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敷金　　　　　　：180万円（退店時返還）</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初期投資合計　：1,446万円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実質回収必要額：1,266万円（敷金除く）</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【1店舗あたり年次損益計画】（別添 事業計画書より）　単位：千円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会員数（平均）　売上高　　営業利益（償却前）　営業利益率</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1年目　　　　　191名　　　　28,388　　　3,115　　　　　　　　9.6%</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7</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新規出店 設備資金 ― 回答済（会計士武田）</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（3/3）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93776"/>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438912"/>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事業調査報告書P110「設備投資の状況」によれば、新規出店には造作等の設備投資により、１店舗あたり50〜60百万円の設備資金を投入する必要があるようですが、当該施策を採用する場合、当該設備資金の調達計画についてご明示ください。</a:t>
            </a:r>
            <a:endParaRPr lang="en-US" sz="900" dirty="0"/>
          </a:p>
        </p:txBody>
      </p:sp>
      <p:sp>
        <p:nvSpPr>
          <p:cNvPr id="13" name="Shape 11"/>
          <p:cNvSpPr/>
          <p:nvPr/>
        </p:nvSpPr>
        <p:spPr>
          <a:xfrm>
            <a:off x="228600" y="1243584"/>
            <a:ext cx="11704320" cy="310896"/>
          </a:xfrm>
          <a:prstGeom prst="rect">
            <a:avLst/>
          </a:prstGeom>
          <a:solidFill>
            <a:srgbClr val="155F50"/>
          </a:solidFill>
          <a:ln w="12700">
            <a:solidFill>
              <a:srgbClr val="155F50"/>
            </a:solidFill>
            <a:prstDash val="solid"/>
          </a:ln>
        </p:spPr>
      </p:sp>
      <p:sp>
        <p:nvSpPr>
          <p:cNvPr id="14" name="Text 12"/>
          <p:cNvSpPr/>
          <p:nvPr/>
        </p:nvSpPr>
        <p:spPr>
          <a:xfrm>
            <a:off x="320040" y="1243584"/>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大丸実業株式会社（スポンサー）の追加回答</a:t>
            </a:r>
            <a:endParaRPr lang="en-US" sz="1000" dirty="0"/>
          </a:p>
        </p:txBody>
      </p:sp>
      <p:sp>
        <p:nvSpPr>
          <p:cNvPr id="15" name="Shape 13"/>
          <p:cNvSpPr/>
          <p:nvPr/>
        </p:nvSpPr>
        <p:spPr>
          <a:xfrm>
            <a:off x="228600" y="1554480"/>
            <a:ext cx="11704320" cy="5047488"/>
          </a:xfrm>
          <a:prstGeom prst="rect">
            <a:avLst/>
          </a:prstGeom>
          <a:solidFill>
            <a:srgbClr val="FFFFFF"/>
          </a:solidFill>
          <a:ln w="12700">
            <a:solidFill>
              <a:srgbClr val="D0D8E8"/>
            </a:solidFill>
            <a:prstDash val="solid"/>
          </a:ln>
        </p:spPr>
      </p:sp>
      <p:sp>
        <p:nvSpPr>
          <p:cNvPr id="16" name="Text 14"/>
          <p:cNvSpPr/>
          <p:nvPr/>
        </p:nvSpPr>
        <p:spPr>
          <a:xfrm>
            <a:off x="320040" y="1600200"/>
            <a:ext cx="11521440" cy="4956048"/>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2年目　　　　　236名　　　　36,624　　　7,989　　　　　　　　20.7%</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3年目　　　　　247名　　　　38,292　　　9,658　　　　　　　　24.2%</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4年目以降　　　251名（安定）　38,824　　10,190　　　　　　　　25.2%</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 損益分岐点（BEP）：在籍155名到達時（開業4〜5ヶ月目を想定）</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 6本/日提供時で営業利益率23.8%、7本以上で30〜35%が可能（事業計画書より）</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【3カ年 出店計画・投資総額】</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2026年度：3店舗出店　投資額 約4,338万円（1,446万×3店）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2027年度：3〜5店舗出店　追加投資 約4,338〜7,230万円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2028年度：3〜5店舗出店　追加投資 約4,338〜7,230万円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3年累計：9〜15店舗　総投資額 約1億3,000〜2億1,000万円</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【資金調達方針】</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実業株式会社は自己資金によりこれを賄います。1店舗あたり1,446万円という水準は大丸実業の財務体力の範囲内で計画的に対応可能であり、金融機関への返済リスクを一切生じさせない構造としております。</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8</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プッシュ型営業活動の強化 ― 回答済（スポンサー対応）</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（1/3）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93776"/>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438912"/>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当該施策では、会員増及び客単価アップによる増収を見込むものと思われますが、当該施策を採用する場合、数値計画ではそれぞれの効果を区別してお示しください。なお、前者については店舗規模に見合った会員増であることもご明示ください。</a:t>
            </a:r>
            <a:endParaRPr lang="en-US" sz="900" dirty="0"/>
          </a:p>
        </p:txBody>
      </p:sp>
      <p:sp>
        <p:nvSpPr>
          <p:cNvPr id="13" name="Shape 11"/>
          <p:cNvSpPr/>
          <p:nvPr/>
        </p:nvSpPr>
        <p:spPr>
          <a:xfrm>
            <a:off x="228600" y="1243584"/>
            <a:ext cx="11704320" cy="310896"/>
          </a:xfrm>
          <a:prstGeom prst="rect">
            <a:avLst/>
          </a:prstGeom>
          <a:solidFill>
            <a:srgbClr val="2D6A4F"/>
          </a:solidFill>
          <a:ln w="12700">
            <a:solidFill>
              <a:srgbClr val="2D6A4F"/>
            </a:solidFill>
            <a:prstDash val="solid"/>
          </a:ln>
        </p:spPr>
      </p:sp>
      <p:sp>
        <p:nvSpPr>
          <p:cNvPr id="14" name="Text 12"/>
          <p:cNvSpPr/>
          <p:nvPr/>
        </p:nvSpPr>
        <p:spPr>
          <a:xfrm>
            <a:off x="320040" y="1243584"/>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武田会計士（RtoCパートナーズ）の初期回答</a:t>
            </a:r>
            <a:endParaRPr lang="en-US" sz="1000" dirty="0"/>
          </a:p>
        </p:txBody>
      </p:sp>
      <p:sp>
        <p:nvSpPr>
          <p:cNvPr id="15" name="Shape 13"/>
          <p:cNvSpPr/>
          <p:nvPr/>
        </p:nvSpPr>
        <p:spPr>
          <a:xfrm>
            <a:off x="228600" y="1554480"/>
            <a:ext cx="11704320" cy="5047488"/>
          </a:xfrm>
          <a:prstGeom prst="rect">
            <a:avLst/>
          </a:prstGeom>
          <a:solidFill>
            <a:srgbClr val="E8F4F0"/>
          </a:solidFill>
          <a:ln w="12700">
            <a:solidFill>
              <a:srgbClr val="B8DDD0"/>
            </a:solidFill>
            <a:prstDash val="solid"/>
          </a:ln>
        </p:spPr>
      </p:sp>
      <p:sp>
        <p:nvSpPr>
          <p:cNvPr id="16" name="Text 14"/>
          <p:cNvSpPr/>
          <p:nvPr/>
        </p:nvSpPr>
        <p:spPr>
          <a:xfrm>
            <a:off x="320040" y="1600200"/>
            <a:ext cx="11521440" cy="4956048"/>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（Q7と同上）</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本件は、スポンサー型再生のため、事業調査報告書記載の経営改善施策は参考情報となります。スポンサー作成の計画に基づいてご判断いただければと考えております。</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8</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プッシュ型営業活動の強化 ― 回答済（スポンサー対応）</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（2/3）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93776"/>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438912"/>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当該施策では、会員増及び客単価アップによる増収を見込むものと思われますが、当該施策を採用する場合、数値計画ではそれぞれの効果を区別してお示しください。なお、前者については店舗規模に見合った会員増であることもご明示ください。</a:t>
            </a:r>
            <a:endParaRPr lang="en-US" sz="900" dirty="0"/>
          </a:p>
        </p:txBody>
      </p:sp>
      <p:sp>
        <p:nvSpPr>
          <p:cNvPr id="13" name="Shape 11"/>
          <p:cNvSpPr/>
          <p:nvPr/>
        </p:nvSpPr>
        <p:spPr>
          <a:xfrm>
            <a:off x="228600" y="1243584"/>
            <a:ext cx="11704320" cy="310896"/>
          </a:xfrm>
          <a:prstGeom prst="rect">
            <a:avLst/>
          </a:prstGeom>
          <a:solidFill>
            <a:srgbClr val="155F50"/>
          </a:solidFill>
          <a:ln w="12700">
            <a:solidFill>
              <a:srgbClr val="155F50"/>
            </a:solidFill>
            <a:prstDash val="solid"/>
          </a:ln>
        </p:spPr>
      </p:sp>
      <p:sp>
        <p:nvSpPr>
          <p:cNvPr id="14" name="Text 12"/>
          <p:cNvSpPr/>
          <p:nvPr/>
        </p:nvSpPr>
        <p:spPr>
          <a:xfrm>
            <a:off x="320040" y="1243584"/>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大丸実業株式会社（スポンサー）の追加回答</a:t>
            </a:r>
            <a:endParaRPr lang="en-US" sz="1000" dirty="0"/>
          </a:p>
        </p:txBody>
      </p:sp>
      <p:sp>
        <p:nvSpPr>
          <p:cNvPr id="15" name="Shape 13"/>
          <p:cNvSpPr/>
          <p:nvPr/>
        </p:nvSpPr>
        <p:spPr>
          <a:xfrm>
            <a:off x="228600" y="1554480"/>
            <a:ext cx="11704320" cy="5047488"/>
          </a:xfrm>
          <a:prstGeom prst="rect">
            <a:avLst/>
          </a:prstGeom>
          <a:solidFill>
            <a:srgbClr val="FFFFFF"/>
          </a:solidFill>
          <a:ln w="12700">
            <a:solidFill>
              <a:srgbClr val="D0D8E8"/>
            </a:solidFill>
            <a:prstDash val="solid"/>
          </a:ln>
        </p:spPr>
      </p:sp>
      <p:sp>
        <p:nvSpPr>
          <p:cNvPr id="16" name="Text 14"/>
          <p:cNvSpPr/>
          <p:nvPr/>
        </p:nvSpPr>
        <p:spPr>
          <a:xfrm>
            <a:off x="320040" y="1600200"/>
            <a:ext cx="11521440" cy="4956048"/>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スポンサーである大丸実業株式会社として、プッシュ型営業活動強化の数値計画を以下の通り提示いたします。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【① 会員数増加の効果（店舗規模との整合含む）】</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昨今のピラティスブームおよびプログラム強化により、直営4店舗で月+2名/店の純増を見込んでいます。これは別添事業計画書（戦略⑧）の在籍者数計画（24期：1,725名・25期：1,790名）と整合しています。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対象　　：直営4店舗</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月次会員増：1店舗あたり月+2名 × 4店舗 ＝ 月+8名</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単価想定　：9,000円/月（各店舗平均）</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月次増収　：8名 × 9,000円 ＝ 72,000円/月</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年間増収　：72,000円 × 12ヶ月 ＝ 約86万円/年</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在籍者数計画（事業計画書 戦略⑧より）：</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23期（予）：1,654名 → 24期（計）：1,725名（年+71名）→ 25期（計）：1,790名（年+65名）</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 月+2名/店の純増は、出店当時の事業計画書に基づくMAX会員数の範囲内であり、店舗規模に見合った増加です。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【② 客単価アップの効果】</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8</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プッシュ型営業活動の強化 ― 回答済（スポンサー対応）</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（3/3）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493776"/>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438912"/>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当該施策では、会員増及び客単価アップによる増収を見込むものと思われますが、当該施策を採用する場合、数値計画ではそれぞれの効果を区別してお示しください。なお、前者については店舗規模に見合った会員増であることもご明示ください。</a:t>
            </a:r>
            <a:endParaRPr lang="en-US" sz="900" dirty="0"/>
          </a:p>
        </p:txBody>
      </p:sp>
      <p:sp>
        <p:nvSpPr>
          <p:cNvPr id="13" name="Shape 11"/>
          <p:cNvSpPr/>
          <p:nvPr/>
        </p:nvSpPr>
        <p:spPr>
          <a:xfrm>
            <a:off x="228600" y="1243584"/>
            <a:ext cx="11704320" cy="310896"/>
          </a:xfrm>
          <a:prstGeom prst="rect">
            <a:avLst/>
          </a:prstGeom>
          <a:solidFill>
            <a:srgbClr val="155F50"/>
          </a:solidFill>
          <a:ln w="12700">
            <a:solidFill>
              <a:srgbClr val="155F50"/>
            </a:solidFill>
            <a:prstDash val="solid"/>
          </a:ln>
        </p:spPr>
      </p:sp>
      <p:sp>
        <p:nvSpPr>
          <p:cNvPr id="14" name="Text 12"/>
          <p:cNvSpPr/>
          <p:nvPr/>
        </p:nvSpPr>
        <p:spPr>
          <a:xfrm>
            <a:off x="320040" y="1243584"/>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大丸実業株式会社（スポンサー）の追加回答</a:t>
            </a:r>
            <a:endParaRPr lang="en-US" sz="1000" dirty="0"/>
          </a:p>
        </p:txBody>
      </p:sp>
      <p:sp>
        <p:nvSpPr>
          <p:cNvPr id="15" name="Shape 13"/>
          <p:cNvSpPr/>
          <p:nvPr/>
        </p:nvSpPr>
        <p:spPr>
          <a:xfrm>
            <a:off x="228600" y="1554480"/>
            <a:ext cx="11704320" cy="5047488"/>
          </a:xfrm>
          <a:prstGeom prst="rect">
            <a:avLst/>
          </a:prstGeom>
          <a:solidFill>
            <a:srgbClr val="FFFFFF"/>
          </a:solidFill>
          <a:ln w="12700">
            <a:solidFill>
              <a:srgbClr val="D0D8E8"/>
            </a:solidFill>
            <a:prstDash val="solid"/>
          </a:ln>
        </p:spPr>
      </p:sp>
      <p:sp>
        <p:nvSpPr>
          <p:cNvPr id="16" name="Text 14"/>
          <p:cNvSpPr/>
          <p:nvPr/>
        </p:nvSpPr>
        <p:spPr>
          <a:xfrm>
            <a:off x="320040" y="1600200"/>
            <a:ext cx="11521440" cy="4956048"/>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直営在籍会員1,600名を対象に2027年1月から月額500円の値上げを実施いたします。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なお、極端な単価値上げは新規集客に影響する可能性があるため、実施2ヶ月前に社会情勢を踏まえた上で最終的な値上げ幅（300円〜500円）を判断することを検討しております。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対象　：全直営店 在籍1,600名</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値上げ額：500円/月（上限。社会情勢により300円〜500円の範囲で2ヶ月前に確定）</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月次増収：1,600名 × 500円 ＝ 80万円/月</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年間増収：約960万円/年（追加原価なし・利益率約100%）</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※300円実施時：年間 約576万円</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【両施策の合計収益改善効果】</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①会員増加効果　：年間 約86万円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②客単価アップ　：年間 約576万円〜960万円（値上げ幅300〜500円による）</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合計　　　　　　：年間 約662万円〜1,046万円</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9</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ピラティス機器販売強化 ― 回答済（スポンサー対応）</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（1/3）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649224"/>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594360"/>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ピラティス機器は単価が200千円/台〜800千円/台と比較的高価で、輸入販売でもあることから、売上増加にあたっては仕入資金増加に伴う運転資金の調達が必要と認識します。当該施策を採用する場合、運転資金の調達額及び調達先の見通しをご明示ください。</a:t>
            </a:r>
            <a:endParaRPr lang="en-US" sz="900" dirty="0"/>
          </a:p>
        </p:txBody>
      </p:sp>
      <p:sp>
        <p:nvSpPr>
          <p:cNvPr id="13" name="Shape 11"/>
          <p:cNvSpPr/>
          <p:nvPr/>
        </p:nvSpPr>
        <p:spPr>
          <a:xfrm>
            <a:off x="228600" y="1399032"/>
            <a:ext cx="11704320" cy="310896"/>
          </a:xfrm>
          <a:prstGeom prst="rect">
            <a:avLst/>
          </a:prstGeom>
          <a:solidFill>
            <a:srgbClr val="2D6A4F"/>
          </a:solidFill>
          <a:ln w="12700">
            <a:solidFill>
              <a:srgbClr val="2D6A4F"/>
            </a:solidFill>
            <a:prstDash val="solid"/>
          </a:ln>
        </p:spPr>
      </p:sp>
      <p:sp>
        <p:nvSpPr>
          <p:cNvPr id="14" name="Text 12"/>
          <p:cNvSpPr/>
          <p:nvPr/>
        </p:nvSpPr>
        <p:spPr>
          <a:xfrm>
            <a:off x="320040" y="1399032"/>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武田会計士（RtoCパートナーズ）の初期回答</a:t>
            </a:r>
            <a:endParaRPr lang="en-US" sz="1000" dirty="0"/>
          </a:p>
        </p:txBody>
      </p:sp>
      <p:sp>
        <p:nvSpPr>
          <p:cNvPr id="15" name="Shape 13"/>
          <p:cNvSpPr/>
          <p:nvPr/>
        </p:nvSpPr>
        <p:spPr>
          <a:xfrm>
            <a:off x="228600" y="1709928"/>
            <a:ext cx="11704320" cy="4892040"/>
          </a:xfrm>
          <a:prstGeom prst="rect">
            <a:avLst/>
          </a:prstGeom>
          <a:solidFill>
            <a:srgbClr val="E8F4F0"/>
          </a:solidFill>
          <a:ln w="12700">
            <a:solidFill>
              <a:srgbClr val="B8DDD0"/>
            </a:solidFill>
            <a:prstDash val="solid"/>
          </a:ln>
        </p:spPr>
      </p:sp>
      <p:sp>
        <p:nvSpPr>
          <p:cNvPr id="16" name="Text 14"/>
          <p:cNvSpPr/>
          <p:nvPr/>
        </p:nvSpPr>
        <p:spPr>
          <a:xfrm>
            <a:off x="320040" y="1755648"/>
            <a:ext cx="11521440" cy="4800600"/>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（Q7と同上）</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本件は、スポンサー型再生のため、事業調査報告書記載の経営改善施策は参考情報となります。スポンサー作成の計画に基づいてご判断いただければと考えております。</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9</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ピラティス機器販売強化 ― 回答済（スポンサー対応）</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（2/3）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649224"/>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594360"/>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ピラティス機器は単価が200千円/台〜800千円/台と比較的高価で、輸入販売でもあることから、売上増加にあたっては仕入資金増加に伴う運転資金の調達が必要と認識します。当該施策を採用する場合、運転資金の調達額及び調達先の見通しをご明示ください。</a:t>
            </a:r>
            <a:endParaRPr lang="en-US" sz="900" dirty="0"/>
          </a:p>
        </p:txBody>
      </p:sp>
      <p:sp>
        <p:nvSpPr>
          <p:cNvPr id="13" name="Shape 11"/>
          <p:cNvSpPr/>
          <p:nvPr/>
        </p:nvSpPr>
        <p:spPr>
          <a:xfrm>
            <a:off x="228600" y="1399032"/>
            <a:ext cx="11704320" cy="310896"/>
          </a:xfrm>
          <a:prstGeom prst="rect">
            <a:avLst/>
          </a:prstGeom>
          <a:solidFill>
            <a:srgbClr val="155F50"/>
          </a:solidFill>
          <a:ln w="12700">
            <a:solidFill>
              <a:srgbClr val="155F50"/>
            </a:solidFill>
            <a:prstDash val="solid"/>
          </a:ln>
        </p:spPr>
      </p:sp>
      <p:sp>
        <p:nvSpPr>
          <p:cNvPr id="14" name="Text 12"/>
          <p:cNvSpPr/>
          <p:nvPr/>
        </p:nvSpPr>
        <p:spPr>
          <a:xfrm>
            <a:off x="320040" y="1399032"/>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大丸実業株式会社（スポンサー）の追加回答</a:t>
            </a:r>
            <a:endParaRPr lang="en-US" sz="1000" dirty="0"/>
          </a:p>
        </p:txBody>
      </p:sp>
      <p:sp>
        <p:nvSpPr>
          <p:cNvPr id="15" name="Shape 13"/>
          <p:cNvSpPr/>
          <p:nvPr/>
        </p:nvSpPr>
        <p:spPr>
          <a:xfrm>
            <a:off x="228600" y="1709928"/>
            <a:ext cx="11704320" cy="4892040"/>
          </a:xfrm>
          <a:prstGeom prst="rect">
            <a:avLst/>
          </a:prstGeom>
          <a:solidFill>
            <a:srgbClr val="FFFFFF"/>
          </a:solidFill>
          <a:ln w="12700">
            <a:solidFill>
              <a:srgbClr val="D0D8E8"/>
            </a:solidFill>
            <a:prstDash val="solid"/>
          </a:ln>
        </p:spPr>
      </p:sp>
      <p:sp>
        <p:nvSpPr>
          <p:cNvPr id="16" name="Text 14"/>
          <p:cNvSpPr/>
          <p:nvPr/>
        </p:nvSpPr>
        <p:spPr>
          <a:xfrm>
            <a:off x="320040" y="1755648"/>
            <a:ext cx="11521440" cy="4800600"/>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スポンサーである大丸実業株式会社として、ピラティス機器販売強化における運転資金の調達計画を以下の通り提示いたします。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【資金回収リスクの最小化】</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大丸実業が主導するピラティス機器の販売は原則として前入金対応としており、仕入資金の回収リスクは極めて低い構造となっております。突発的な運転資金の増加は想定しておりません。</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【運転資金の調達方針】</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調達額　：約1,000万円を目安に大丸実業の自己資金を充当いたします。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調達先　：大丸実業株式会社の自己資金。金融機関への新規借入は想定しておりません。</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仕入資金：受注確定後に発注する受注生産型を基本とし、在庫リスクを最小化。</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【主要大口顧客の販売計画（安定受注の根拠）】</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①　The Silk（既存大口）</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現在店舗展開中。年間12店舗の出店ペースでマシンを継続納入中。</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②　株式会社DYM（新規大口）</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渋谷エリアに直営2店舗を展開予定（2026年8月〜）。その後FC20店舗への展開を計画しており、大丸実業がマシンをFC向けに卸販売する体制を構築中。</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③　JR東日本ジェクサーフィットネスクラブ（大口）</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9</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P118 ピラティス機器販売強化 ― 回答済（スポンサー対応）</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（3/3）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649224"/>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594360"/>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ピラティス機器は単価が200千円/台〜800千円/台と比較的高価で、輸入販売でもあることから、売上増加にあたっては仕入資金増加に伴う運転資金の調達が必要と認識します。当該施策を採用する場合、運転資金の調達額及び調達先の見通しをご明示ください。</a:t>
            </a:r>
            <a:endParaRPr lang="en-US" sz="900" dirty="0"/>
          </a:p>
        </p:txBody>
      </p:sp>
      <p:sp>
        <p:nvSpPr>
          <p:cNvPr id="13" name="Shape 11"/>
          <p:cNvSpPr/>
          <p:nvPr/>
        </p:nvSpPr>
        <p:spPr>
          <a:xfrm>
            <a:off x="228600" y="1399032"/>
            <a:ext cx="11704320" cy="310896"/>
          </a:xfrm>
          <a:prstGeom prst="rect">
            <a:avLst/>
          </a:prstGeom>
          <a:solidFill>
            <a:srgbClr val="155F50"/>
          </a:solidFill>
          <a:ln w="12700">
            <a:solidFill>
              <a:srgbClr val="155F50"/>
            </a:solidFill>
            <a:prstDash val="solid"/>
          </a:ln>
        </p:spPr>
      </p:sp>
      <p:sp>
        <p:nvSpPr>
          <p:cNvPr id="14" name="Text 12"/>
          <p:cNvSpPr/>
          <p:nvPr/>
        </p:nvSpPr>
        <p:spPr>
          <a:xfrm>
            <a:off x="320040" y="1399032"/>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大丸実業株式会社（スポンサー）の追加回答</a:t>
            </a:r>
            <a:endParaRPr lang="en-US" sz="1000" dirty="0"/>
          </a:p>
        </p:txBody>
      </p:sp>
      <p:sp>
        <p:nvSpPr>
          <p:cNvPr id="15" name="Shape 13"/>
          <p:cNvSpPr/>
          <p:nvPr/>
        </p:nvSpPr>
        <p:spPr>
          <a:xfrm>
            <a:off x="228600" y="1709928"/>
            <a:ext cx="11704320" cy="4892040"/>
          </a:xfrm>
          <a:prstGeom prst="rect">
            <a:avLst/>
          </a:prstGeom>
          <a:solidFill>
            <a:srgbClr val="FFFFFF"/>
          </a:solidFill>
          <a:ln w="12700">
            <a:solidFill>
              <a:srgbClr val="D0D8E8"/>
            </a:solidFill>
            <a:prstDash val="solid"/>
          </a:ln>
        </p:spPr>
      </p:sp>
      <p:sp>
        <p:nvSpPr>
          <p:cNvPr id="16" name="Text 14"/>
          <p:cNvSpPr/>
          <p:nvPr/>
        </p:nvSpPr>
        <p:spPr>
          <a:xfrm>
            <a:off x="320040" y="1755648"/>
            <a:ext cx="11521440" cy="4800600"/>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JR東日本グループのフィットネスクラブへの納入を推進中。</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④　既存BtoBネットワークへの横展開</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　　大丸プランニングはこれまでコラーゲンスタジオのライセンス展開を通じ、全国多数のフィットネスクラブと長年にわたるBtoB取引実績を有しております。このネットワークに対して、ピラティスマシンの導入提案営業を積極的に推進いたします。既存の信頼関係を活かした営業活動により、新規開拓コストを抑えながら受注拡大を図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以上の大口顧客基盤により、安定した受注見通しのもとで計画的な仕入・販売が可能です。</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10</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回答済</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（1/3）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804672"/>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749808"/>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ピラティス・グループリフォーマー』及び『リズムリフォーマー』という独自プログラムを有している」とありますが、ネット検索する限り、大手（（株）ルネサンス等）ほか同業他社も同様のプログラムを有しているようです。当該施策を採用する場合、「大手の出店攻勢により競争が激しくなっている」（P119）中にあって、御社が顧客に訴求できる独自性についてお示しください。</a:t>
            </a:r>
            <a:endParaRPr lang="en-US" sz="900" dirty="0"/>
          </a:p>
        </p:txBody>
      </p:sp>
      <p:sp>
        <p:nvSpPr>
          <p:cNvPr id="13" name="Shape 11"/>
          <p:cNvSpPr/>
          <p:nvPr/>
        </p:nvSpPr>
        <p:spPr>
          <a:xfrm>
            <a:off x="228600" y="1554480"/>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554480"/>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865376"/>
            <a:ext cx="11704320" cy="4736592"/>
          </a:xfrm>
          <a:prstGeom prst="rect">
            <a:avLst/>
          </a:prstGeom>
          <a:solidFill>
            <a:srgbClr val="FFFFFF"/>
          </a:solidFill>
          <a:ln w="12700">
            <a:solidFill>
              <a:srgbClr val="D0D8E8"/>
            </a:solidFill>
            <a:prstDash val="solid"/>
          </a:ln>
        </p:spPr>
      </p:sp>
      <p:sp>
        <p:nvSpPr>
          <p:cNvPr id="16" name="Text 14"/>
          <p:cNvSpPr/>
          <p:nvPr/>
        </p:nvSpPr>
        <p:spPr>
          <a:xfrm>
            <a:off x="320040" y="1911096"/>
            <a:ext cx="11521440" cy="4645152"/>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大丸プランニング株式会社として、以下の通り回答いたします。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当社の独自性は以下の3点にあります。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（1）「リズムリフォーマー」のグローバルブランド力と日本における正規ライセンス保有</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リズムリフォーマー」は、アメリカを拠点に活動するピラティスインストラクターが考案した、音楽とリフォーマーの動作を融合させたプログラムです。同インストラクターはYouTubeで多数のフォロワー・登録者を持つグローバルインフルエンサーであり、英語圏を中心に世界的な認知度と熱量の高いファン層を有してい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重要なのは、このグローバルブランドの日本展開ライセンスを保有しているのが当社のみであるという点です。国内大手チェーンが展開する「類似プログラム」はあくまで自社開発の模倣的な名称であり、本家インストラクターのブランド・コンテンツ・世界観とは無関係です。グローバルで認知されたオリジナルの「リズムリフォーマー」を日本で正規に提供できるのは当社だけであり、この独自性は資本力で複製できるものではありません。</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10</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回答済</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（2/3）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804672"/>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749808"/>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ピラティス・グループリフォーマー』及び『リズムリフォーマー』という独自プログラムを有している」とありますが、ネット検索する限り、大手（（株）ルネサンス等）ほか同業他社も同様のプログラムを有しているようです。当該施策を採用する場合、「大手の出店攻勢により競争が激しくなっている」（P119）中にあって、御社が顧客に訴求できる独自性についてお示しください。</a:t>
            </a:r>
            <a:endParaRPr lang="en-US" sz="900" dirty="0"/>
          </a:p>
        </p:txBody>
      </p:sp>
      <p:sp>
        <p:nvSpPr>
          <p:cNvPr id="13" name="Shape 11"/>
          <p:cNvSpPr/>
          <p:nvPr/>
        </p:nvSpPr>
        <p:spPr>
          <a:xfrm>
            <a:off x="228600" y="1554480"/>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554480"/>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865376"/>
            <a:ext cx="11704320" cy="4736592"/>
          </a:xfrm>
          <a:prstGeom prst="rect">
            <a:avLst/>
          </a:prstGeom>
          <a:solidFill>
            <a:srgbClr val="FFFFFF"/>
          </a:solidFill>
          <a:ln w="12700">
            <a:solidFill>
              <a:srgbClr val="D0D8E8"/>
            </a:solidFill>
            <a:prstDash val="solid"/>
          </a:ln>
        </p:spPr>
      </p:sp>
      <p:sp>
        <p:nvSpPr>
          <p:cNvPr id="16" name="Text 14"/>
          <p:cNvSpPr/>
          <p:nvPr/>
        </p:nvSpPr>
        <p:spPr>
          <a:xfrm>
            <a:off x="320040" y="1911096"/>
            <a:ext cx="11521440" cy="4645152"/>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また、同インストラクターのグローバルな発信力・影響力はそのままプロモーション資産として機能します。SNS・YouTube上での認知がすでに形成されているブランドを活用できることは、ゼロからマーケティング投資を要する大手チェーンと比較して、顧客獲得コストの観点でも明確な優位性を持ちます。国内市場においてピラティス人気が継続・深化するほど、「本物のリズムリフォーマー」を提供できる当社の希少性はより際立つ構造にあ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（2）全国のマスターインストラクターネットワークと独自コンテンツ資産</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当社は、経験豊富で専門知識の高いマスターインストラクターを全国に擁しております。これらの指導者とともに構築したマニュアル・マテリアルは体系化されており、インストラクター養成・認定・現場指導の各場面で活用できるほか、プロモーション素材としても展開可能な実践的コンテンツ資産となってい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大手チェーンが自社施設向けの内部マニュアルに留まる一方、当社のコンテンツは外部施設・法人向けライセンス展開を前提に設計されており、横展開のスピードと品質の両立が可能です。</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10</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回答済</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（3/3）</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804672"/>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749808"/>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ピラティス・グループリフォーマー』及び『リズムリフォーマー』という独自プログラムを有している」とありますが、ネット検索する限り、大手（（株）ルネサンス等）ほか同業他社も同様のプログラムを有しているようです。当該施策を採用する場合、「大手の出店攻勢により競争が激しくなっている」（P119）中にあって、御社が顧客に訴求できる独自性についてお示しください。</a:t>
            </a:r>
            <a:endParaRPr lang="en-US" sz="900" dirty="0"/>
          </a:p>
        </p:txBody>
      </p:sp>
      <p:sp>
        <p:nvSpPr>
          <p:cNvPr id="13" name="Shape 11"/>
          <p:cNvSpPr/>
          <p:nvPr/>
        </p:nvSpPr>
        <p:spPr>
          <a:xfrm>
            <a:off x="228600" y="1554480"/>
            <a:ext cx="11704320" cy="310896"/>
          </a:xfrm>
          <a:prstGeom prst="rect">
            <a:avLst/>
          </a:prstGeom>
          <a:solidFill>
            <a:srgbClr val="1A3A6B"/>
          </a:solidFill>
          <a:ln w="12700">
            <a:solidFill>
              <a:srgbClr val="1A3A6B"/>
            </a:solidFill>
            <a:prstDash val="solid"/>
          </a:ln>
        </p:spPr>
      </p:sp>
      <p:sp>
        <p:nvSpPr>
          <p:cNvPr id="14" name="Text 12"/>
          <p:cNvSpPr/>
          <p:nvPr/>
        </p:nvSpPr>
        <p:spPr>
          <a:xfrm>
            <a:off x="320040" y="1554480"/>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5" name="Shape 13"/>
          <p:cNvSpPr/>
          <p:nvPr/>
        </p:nvSpPr>
        <p:spPr>
          <a:xfrm>
            <a:off x="228600" y="1865376"/>
            <a:ext cx="11704320" cy="4736592"/>
          </a:xfrm>
          <a:prstGeom prst="rect">
            <a:avLst/>
          </a:prstGeom>
          <a:solidFill>
            <a:srgbClr val="FFFFFF"/>
          </a:solidFill>
          <a:ln w="12700">
            <a:solidFill>
              <a:srgbClr val="D0D8E8"/>
            </a:solidFill>
            <a:prstDash val="solid"/>
          </a:ln>
        </p:spPr>
      </p:sp>
      <p:sp>
        <p:nvSpPr>
          <p:cNvPr id="16" name="Text 14"/>
          <p:cNvSpPr/>
          <p:nvPr/>
        </p:nvSpPr>
        <p:spPr>
          <a:xfrm>
            <a:off x="320040" y="1911096"/>
            <a:ext cx="11521440" cy="4645152"/>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また、当社はこれまでにピラティスマシンを累計1,300台以上販売した実績を有しています。販売先には単なるハード（機器）の提供にとどまらず、プログラム・養成・サポートといったソフト面も一体で提供できる販売ルートを構築しており、この既存顧客基盤はリズムリフォーマーをはじめとする自社プログラムの横展開先として直結する強力なチャネルとなってい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大手各社がゼロから顧客開拓を行う必要がある中、当社は1,300台分の導入先という既存接点を活かした展開が可能であり、この点は競合他社が容易に模倣できない参入障壁となっています。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（3）10年のBtoB実績・継続プログラム提供の仕組みと「グループリフォーマー」商標保有</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当社はコラーゲンスタジオ事業を通じて、約10年にわたりBtoBで培ってきた法人顧客との深い関係性を有しております。この関係基盤をピラティス・リフォーマー事業にも活用し、新規法人向け養成プログラムおよび継続研修プログラムの両方を体系的に用意しています。単発の納品・販売で終わらず、継続的に各企業へプログラムを提供し続けられる仕組みが構築されている点は、大手チェーンにはない当社固有の強みで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加えて、「グループリフォーマー」という名称は当社が商標を保有しております。大手他社が類似プログラムを展開する場合であっても、この商標に抵触する形での使用は制限されます。グローバルブランド「リズムリフォーマー」の正規ライセンスと合わせ、ブランド・商標の両面における知的財産を保有していることが、競合他社との本質的な差別化軸となっております。</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11</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P119 新規事業（介護等）― 回答済（会計士武田）</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（1/2）</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804672"/>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749808"/>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フィットネス事業と関連する介護事業等への進出（略）は検討の余地はある」とありますが、当社の経営資源を十分に活用できるスキームでなければ収益化は難しいものと考えます。当該施策を採用する場合、①当社が活用する具体的な経営資源、②介護事業所の出所形態（既存のフィットネス店舗と一体又は隣接する場合は想定されるリスクとその対応策を含む。）についてご明示ください。</a:t>
            </a:r>
            <a:endParaRPr lang="en-US" sz="900" dirty="0"/>
          </a:p>
        </p:txBody>
      </p:sp>
      <p:sp>
        <p:nvSpPr>
          <p:cNvPr id="13" name="Shape 11"/>
          <p:cNvSpPr/>
          <p:nvPr/>
        </p:nvSpPr>
        <p:spPr>
          <a:xfrm>
            <a:off x="228600" y="1554480"/>
            <a:ext cx="11704320" cy="310896"/>
          </a:xfrm>
          <a:prstGeom prst="rect">
            <a:avLst/>
          </a:prstGeom>
          <a:solidFill>
            <a:srgbClr val="2D6A4F"/>
          </a:solidFill>
          <a:ln w="12700">
            <a:solidFill>
              <a:srgbClr val="2D6A4F"/>
            </a:solidFill>
            <a:prstDash val="solid"/>
          </a:ln>
        </p:spPr>
      </p:sp>
      <p:sp>
        <p:nvSpPr>
          <p:cNvPr id="14" name="Text 12"/>
          <p:cNvSpPr/>
          <p:nvPr/>
        </p:nvSpPr>
        <p:spPr>
          <a:xfrm>
            <a:off x="320040" y="1554480"/>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武田会計士（RtoCパートナーズ）の初期回答</a:t>
            </a:r>
            <a:endParaRPr lang="en-US" sz="1000" dirty="0"/>
          </a:p>
        </p:txBody>
      </p:sp>
      <p:sp>
        <p:nvSpPr>
          <p:cNvPr id="15" name="Shape 13"/>
          <p:cNvSpPr/>
          <p:nvPr/>
        </p:nvSpPr>
        <p:spPr>
          <a:xfrm>
            <a:off x="228600" y="1865376"/>
            <a:ext cx="11704320" cy="4736592"/>
          </a:xfrm>
          <a:prstGeom prst="rect">
            <a:avLst/>
          </a:prstGeom>
          <a:solidFill>
            <a:srgbClr val="E8F4F0"/>
          </a:solidFill>
          <a:ln w="12700">
            <a:solidFill>
              <a:srgbClr val="B8DDD0"/>
            </a:solidFill>
            <a:prstDash val="solid"/>
          </a:ln>
        </p:spPr>
      </p:sp>
      <p:sp>
        <p:nvSpPr>
          <p:cNvPr id="16" name="Text 14"/>
          <p:cNvSpPr/>
          <p:nvPr/>
        </p:nvSpPr>
        <p:spPr>
          <a:xfrm>
            <a:off x="320040" y="1911096"/>
            <a:ext cx="11521440" cy="4645152"/>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Q7をご参照ください。</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本件は、スポンサー型再生のため、新規事業を含む具体的な施策につきましては、スポンサーが判断することになりますので、スポンサー作成の計画に基づいてご判断いただければと考えております。</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11</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P119 新規事業（介護等）― 回答済（会計士武田）</a:t>
            </a:r>
            <a:endParaRPr lang="en-US" sz="850" dirty="0"/>
          </a:p>
        </p:txBody>
      </p:sp>
      <p:sp>
        <p:nvSpPr>
          <p:cNvPr id="6" name="Shape 4"/>
          <p:cNvSpPr/>
          <p:nvPr/>
        </p:nvSpPr>
        <p:spPr>
          <a:xfrm>
            <a:off x="10058400" y="91440"/>
            <a:ext cx="1828800" cy="384048"/>
          </a:xfrm>
          <a:prstGeom prst="rect">
            <a:avLst/>
          </a:prstGeom>
          <a:solidFill>
            <a:srgbClr val="1A3A6B"/>
          </a:solidFill>
          <a:ln w="12700">
            <a:solidFill>
              <a:srgbClr val="1A3A6B"/>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スポンサー対応</a:t>
            </a:r>
            <a:endParaRPr lang="en-US" sz="1000" dirty="0"/>
          </a:p>
        </p:txBody>
      </p:sp>
      <p:sp>
        <p:nvSpPr>
          <p:cNvPr id="8" name="Text 6"/>
          <p:cNvSpPr/>
          <p:nvPr/>
        </p:nvSpPr>
        <p:spPr>
          <a:xfrm>
            <a:off x="8412480" y="109728"/>
            <a:ext cx="1371600" cy="201168"/>
          </a:xfrm>
          <a:prstGeom prst="rect">
            <a:avLst/>
          </a:prstGeom>
          <a:noFill/>
          <a:ln/>
        </p:spPr>
        <p:txBody>
          <a:bodyPr wrap="square" rtlCol="0" anchor="ctr"/>
          <a:lstStyle/>
          <a:p>
            <a:pPr algn="r" indent="0" marL="0">
              <a:buNone/>
            </a:pPr>
            <a:r>
              <a:rPr lang="en-US" sz="850" dirty="0">
                <a:solidFill>
                  <a:srgbClr val="AAC4E0"/>
                </a:solidFill>
                <a:latin typeface="メイリオ" pitchFamily="34" charset="0"/>
                <a:ea typeface="メイリオ" pitchFamily="34" charset="-122"/>
                <a:cs typeface="メイリオ" pitchFamily="34" charset="-120"/>
              </a:rPr>
              <a:t>（2/2）</a:t>
            </a:r>
            <a:endParaRPr lang="en-US" sz="850" dirty="0"/>
          </a:p>
        </p:txBody>
      </p:sp>
      <p:sp>
        <p:nvSpPr>
          <p:cNvPr id="9" name="Shape 7"/>
          <p:cNvSpPr/>
          <p:nvPr/>
        </p:nvSpPr>
        <p:spPr>
          <a:xfrm>
            <a:off x="228600" y="640080"/>
            <a:ext cx="11704320" cy="36576"/>
          </a:xfrm>
          <a:prstGeom prst="rect">
            <a:avLst/>
          </a:prstGeom>
          <a:solidFill>
            <a:srgbClr val="1E6E5E"/>
          </a:solidFill>
          <a:ln w="12700">
            <a:solidFill>
              <a:srgbClr val="1E6E5E"/>
            </a:solidFill>
            <a:prstDash val="solid"/>
          </a:ln>
        </p:spPr>
      </p:sp>
      <p:sp>
        <p:nvSpPr>
          <p:cNvPr id="10" name="Shape 8"/>
          <p:cNvSpPr/>
          <p:nvPr/>
        </p:nvSpPr>
        <p:spPr>
          <a:xfrm>
            <a:off x="228600" y="676656"/>
            <a:ext cx="11704320" cy="804672"/>
          </a:xfrm>
          <a:prstGeom prst="rect">
            <a:avLst/>
          </a:prstGeom>
          <a:solidFill>
            <a:srgbClr val="FFFFFF"/>
          </a:solidFill>
          <a:ln w="12700">
            <a:solidFill>
              <a:srgbClr val="D0D8E8"/>
            </a:solidFill>
            <a:prstDash val="solid"/>
          </a:ln>
        </p:spPr>
      </p:sp>
      <p:sp>
        <p:nvSpPr>
          <p:cNvPr id="11" name="Text 9"/>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2" name="Text 10"/>
          <p:cNvSpPr/>
          <p:nvPr/>
        </p:nvSpPr>
        <p:spPr>
          <a:xfrm>
            <a:off x="475488" y="694944"/>
            <a:ext cx="11247120" cy="749808"/>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フィットネス事業と関連する介護事業等への進出（略）は検討の余地はある」とありますが、当社の経営資源を十分に活用できるスキームでなければ収益化は難しいものと考えます。当該施策を採用する場合、①当社が活用する具体的な経営資源、②介護事業所の出所形態（既存のフィットネス店舗と一体又は隣接する場合は想定されるリスクとその対応策を含む。）についてご明示ください。</a:t>
            </a:r>
            <a:endParaRPr lang="en-US" sz="900" dirty="0"/>
          </a:p>
        </p:txBody>
      </p:sp>
      <p:sp>
        <p:nvSpPr>
          <p:cNvPr id="13" name="Shape 11"/>
          <p:cNvSpPr/>
          <p:nvPr/>
        </p:nvSpPr>
        <p:spPr>
          <a:xfrm>
            <a:off x="228600" y="1554480"/>
            <a:ext cx="11704320" cy="310896"/>
          </a:xfrm>
          <a:prstGeom prst="rect">
            <a:avLst/>
          </a:prstGeom>
          <a:solidFill>
            <a:srgbClr val="155F50"/>
          </a:solidFill>
          <a:ln w="12700">
            <a:solidFill>
              <a:srgbClr val="155F50"/>
            </a:solidFill>
            <a:prstDash val="solid"/>
          </a:ln>
        </p:spPr>
      </p:sp>
      <p:sp>
        <p:nvSpPr>
          <p:cNvPr id="14" name="Text 12"/>
          <p:cNvSpPr/>
          <p:nvPr/>
        </p:nvSpPr>
        <p:spPr>
          <a:xfrm>
            <a:off x="320040" y="1554480"/>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大丸実業株式会社（スポンサー）の追加回答</a:t>
            </a:r>
            <a:endParaRPr lang="en-US" sz="1000" dirty="0"/>
          </a:p>
        </p:txBody>
      </p:sp>
      <p:sp>
        <p:nvSpPr>
          <p:cNvPr id="15" name="Shape 13"/>
          <p:cNvSpPr/>
          <p:nvPr/>
        </p:nvSpPr>
        <p:spPr>
          <a:xfrm>
            <a:off x="228600" y="1865376"/>
            <a:ext cx="11704320" cy="4736592"/>
          </a:xfrm>
          <a:prstGeom prst="rect">
            <a:avLst/>
          </a:prstGeom>
          <a:solidFill>
            <a:srgbClr val="FFFFFF"/>
          </a:solidFill>
          <a:ln w="12700">
            <a:solidFill>
              <a:srgbClr val="D0D8E8"/>
            </a:solidFill>
            <a:prstDash val="solid"/>
          </a:ln>
        </p:spPr>
      </p:sp>
      <p:sp>
        <p:nvSpPr>
          <p:cNvPr id="16" name="Text 14"/>
          <p:cNvSpPr/>
          <p:nvPr/>
        </p:nvSpPr>
        <p:spPr>
          <a:xfrm>
            <a:off x="320040" y="1911096"/>
            <a:ext cx="11521440" cy="4645152"/>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スポンサーである大丸実業株式会社として、以下の通り回答いたします。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事業調査報告書P119に記載の「介護事業等への進出」は、第2回バンクミーティングにおいて将来的な選択肢の一例として提示したものであり、現時点において介護ビジネスを展開する具体的な戦略・計画はございません。</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ご質問の①当社が活用する具体的な経営資源、②介護事業所の出所形態・リスクについては、現時点で当該施策を採用する判断をしていないため、具体的なスキームは未確定であり、回答できる段階にありません。</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大丸実業は現在、既存のフィットネス・ピラティス事業の収益改善および事業再建に経営資源を集中しており、新規事業への進出については、スポンサー参画後に安定した経営基盤が確立された段階において改めて判断・検討いたします。</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DDE3EC"/>
          </a:solidFill>
          <a:ln w="12700">
            <a:solidFill>
              <a:srgbClr val="DDE3EC"/>
            </a:solidFill>
            <a:prstDash val="solid"/>
          </a:ln>
        </p:spPr>
      </p:sp>
      <p:sp>
        <p:nvSpPr>
          <p:cNvPr id="3" name="Shape 1"/>
          <p:cNvSpPr/>
          <p:nvPr/>
        </p:nvSpPr>
        <p:spPr>
          <a:xfrm>
            <a:off x="457200" y="2743200"/>
            <a:ext cx="8229600" cy="54864"/>
          </a:xfrm>
          <a:prstGeom prst="rect">
            <a:avLst/>
          </a:prstGeom>
          <a:solidFill>
            <a:srgbClr val="C8A84B"/>
          </a:solidFill>
          <a:ln w="12700">
            <a:solidFill>
              <a:srgbClr val="C8A84B"/>
            </a:solidFill>
            <a:prstDash val="solid"/>
          </a:ln>
        </p:spPr>
      </p:sp>
      <p:sp>
        <p:nvSpPr>
          <p:cNvPr id="4" name="Text 2"/>
          <p:cNvSpPr/>
          <p:nvPr/>
        </p:nvSpPr>
        <p:spPr>
          <a:xfrm>
            <a:off x="731520" y="1645920"/>
            <a:ext cx="10972800" cy="1097280"/>
          </a:xfrm>
          <a:prstGeom prst="rect">
            <a:avLst/>
          </a:prstGeom>
          <a:noFill/>
          <a:ln/>
        </p:spPr>
        <p:txBody>
          <a:bodyPr wrap="square" rtlCol="0" anchor="ctr"/>
          <a:lstStyle/>
          <a:p>
            <a:pPr indent="0" marL="0">
              <a:buNone/>
            </a:pPr>
            <a:r>
              <a:rPr lang="en-US" sz="2400" b="1" dirty="0">
                <a:solidFill>
                  <a:srgbClr val="1A1A2E"/>
                </a:solidFill>
                <a:latin typeface="メイリオ" pitchFamily="34" charset="0"/>
                <a:ea typeface="メイリオ" pitchFamily="34" charset="-122"/>
                <a:cs typeface="メイリオ" pitchFamily="34" charset="-120"/>
              </a:rPr>
              <a:t>E　財務調査報告書 ― その他</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12</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回答済</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Shape 6"/>
          <p:cNvSpPr/>
          <p:nvPr/>
        </p:nvSpPr>
        <p:spPr>
          <a:xfrm>
            <a:off x="228600" y="640080"/>
            <a:ext cx="11704320" cy="36576"/>
          </a:xfrm>
          <a:prstGeom prst="rect">
            <a:avLst/>
          </a:prstGeom>
          <a:solidFill>
            <a:srgbClr val="1E6E5E"/>
          </a:solidFill>
          <a:ln w="12700">
            <a:solidFill>
              <a:srgbClr val="1E6E5E"/>
            </a:solidFill>
            <a:prstDash val="solid"/>
          </a:ln>
        </p:spPr>
      </p:sp>
      <p:sp>
        <p:nvSpPr>
          <p:cNvPr id="9" name="Shape 7"/>
          <p:cNvSpPr/>
          <p:nvPr/>
        </p:nvSpPr>
        <p:spPr>
          <a:xfrm>
            <a:off x="228600" y="676656"/>
            <a:ext cx="11704320" cy="493776"/>
          </a:xfrm>
          <a:prstGeom prst="rect">
            <a:avLst/>
          </a:prstGeom>
          <a:solidFill>
            <a:srgbClr val="FFFFFF"/>
          </a:solidFill>
          <a:ln w="12700">
            <a:solidFill>
              <a:srgbClr val="D0D8E8"/>
            </a:solidFill>
            <a:prstDash val="solid"/>
          </a:ln>
        </p:spPr>
      </p:sp>
      <p:sp>
        <p:nvSpPr>
          <p:cNvPr id="10" name="Text 8"/>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1" name="Text 9"/>
          <p:cNvSpPr/>
          <p:nvPr/>
        </p:nvSpPr>
        <p:spPr>
          <a:xfrm>
            <a:off x="475488" y="694944"/>
            <a:ext cx="11247120" cy="438912"/>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「令和4年5月期において（略）不動産を大丸実業（株）に1.5億円で売却している」とありますが、売却物件の内容をご教示ください。</a:t>
            </a:r>
            <a:endParaRPr lang="en-US" sz="900" dirty="0"/>
          </a:p>
        </p:txBody>
      </p:sp>
      <p:sp>
        <p:nvSpPr>
          <p:cNvPr id="12" name="Shape 10"/>
          <p:cNvSpPr/>
          <p:nvPr/>
        </p:nvSpPr>
        <p:spPr>
          <a:xfrm>
            <a:off x="228600" y="1243584"/>
            <a:ext cx="11704320" cy="310896"/>
          </a:xfrm>
          <a:prstGeom prst="rect">
            <a:avLst/>
          </a:prstGeom>
          <a:solidFill>
            <a:srgbClr val="1A3A6B"/>
          </a:solidFill>
          <a:ln w="12700">
            <a:solidFill>
              <a:srgbClr val="1A3A6B"/>
            </a:solidFill>
            <a:prstDash val="solid"/>
          </a:ln>
        </p:spPr>
      </p:sp>
      <p:sp>
        <p:nvSpPr>
          <p:cNvPr id="13" name="Text 11"/>
          <p:cNvSpPr/>
          <p:nvPr/>
        </p:nvSpPr>
        <p:spPr>
          <a:xfrm>
            <a:off x="320040" y="1243584"/>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株式会社大丸プランニングの回答</a:t>
            </a:r>
            <a:endParaRPr lang="en-US" sz="1000" dirty="0"/>
          </a:p>
        </p:txBody>
      </p:sp>
      <p:sp>
        <p:nvSpPr>
          <p:cNvPr id="14" name="Shape 12"/>
          <p:cNvSpPr/>
          <p:nvPr/>
        </p:nvSpPr>
        <p:spPr>
          <a:xfrm>
            <a:off x="228600" y="1554480"/>
            <a:ext cx="11704320" cy="5047488"/>
          </a:xfrm>
          <a:prstGeom prst="rect">
            <a:avLst/>
          </a:prstGeom>
          <a:solidFill>
            <a:srgbClr val="FFFFFF"/>
          </a:solidFill>
          <a:ln w="12700">
            <a:solidFill>
              <a:srgbClr val="D0D8E8"/>
            </a:solidFill>
            <a:prstDash val="solid"/>
          </a:ln>
        </p:spPr>
      </p:sp>
      <p:sp>
        <p:nvSpPr>
          <p:cNvPr id="15" name="Text 13"/>
          <p:cNvSpPr/>
          <p:nvPr/>
        </p:nvSpPr>
        <p:spPr>
          <a:xfrm>
            <a:off x="320040" y="1600200"/>
            <a:ext cx="11521440" cy="4956048"/>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令和3年12月10日付にて、以下の不動産を大丸実業株式会社に売却しております。</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【売却物件の内訳】</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■土地</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①　所在地：鹿児島県曽於市大隅町月野字年神3336番 他4筆　面積：4,385㎡　売却額：22,200,000円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②　所在地：鹿児島県曽於市末吉町二之方大園道添5156番2 他9筆　面積：15,647㎡　売却額：105,100,000円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③　所在地：鹿児島県霧島市福山町福山字鳥越4753番 他2筆　面積：3,076㎡　売却額：20,500,000円</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■建物</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④　所在地：鹿児島県曽於市末吉町諏訪　構造：軽量鉄骨造スレート葺平屋建（昭和46年築）　売却額：1,600,000円</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⑤　所在地：鹿児島県鹿屋市寿8丁目　構造：鉄骨造亜鉛メッキ鋼板葺平屋建（平成16年7月築）　売却額：3,100,000円</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合計売却金額：152,500,000円（約1億5,250万円）</a:t>
            </a:r>
            <a:endParaRPr lang="en-US" sz="900" dirty="0"/>
          </a:p>
          <a:p>
            <a:pPr indent="0" marL="0">
              <a:lnSpc>
                <a:spcPct val="130000"/>
              </a:lnSpc>
              <a:buNone/>
            </a:pP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※財務調査報告書P22では「1.5億円で売却」と記載されており、当該金額と整合しております。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※いずれも鹿児島県内に所在する土地・建物であり、当社フィットネス事業の直接の用地ではございません。</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※売却後の当該物件に関するリースバック等の継続利用はございません。</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61520" cy="566928"/>
          </a:xfrm>
          <a:prstGeom prst="rect">
            <a:avLst/>
          </a:prstGeom>
          <a:solidFill>
            <a:srgbClr val="1A3A6B"/>
          </a:solidFill>
          <a:ln w="12700">
            <a:solidFill>
              <a:srgbClr val="1A3A6B"/>
            </a:solidFill>
            <a:prstDash val="solid"/>
          </a:ln>
        </p:spPr>
      </p:sp>
      <p:sp>
        <p:nvSpPr>
          <p:cNvPr id="3" name="Shape 1"/>
          <p:cNvSpPr/>
          <p:nvPr/>
        </p:nvSpPr>
        <p:spPr>
          <a:xfrm>
            <a:off x="182880" y="73152"/>
            <a:ext cx="420624" cy="420624"/>
          </a:xfrm>
          <a:prstGeom prst="ellipse">
            <a:avLst/>
          </a:prstGeom>
          <a:solidFill>
            <a:srgbClr val="C8A84B"/>
          </a:solidFill>
          <a:ln w="12700">
            <a:solidFill>
              <a:srgbClr val="C8A84B"/>
            </a:solidFill>
            <a:prstDash val="solid"/>
          </a:ln>
        </p:spPr>
      </p:sp>
      <p:sp>
        <p:nvSpPr>
          <p:cNvPr id="4" name="Text 2"/>
          <p:cNvSpPr/>
          <p:nvPr/>
        </p:nvSpPr>
        <p:spPr>
          <a:xfrm>
            <a:off x="182880" y="73152"/>
            <a:ext cx="420624" cy="420624"/>
          </a:xfrm>
          <a:prstGeom prst="rect">
            <a:avLst/>
          </a:prstGeom>
          <a:noFill/>
          <a:ln/>
        </p:spPr>
        <p:txBody>
          <a:bodyPr wrap="square" lIns="0" tIns="0" rIns="0" bIns="0" rtlCol="0" anchor="ctr"/>
          <a:lstStyle/>
          <a:p>
            <a:pPr algn="ctr" indent="0" marL="0">
              <a:buNone/>
            </a:pPr>
            <a:r>
              <a:rPr lang="en-US" sz="1300" b="1" dirty="0">
                <a:solidFill>
                  <a:srgbClr val="1A1A2E"/>
                </a:solidFill>
                <a:latin typeface="メイリオ" pitchFamily="34" charset="0"/>
                <a:ea typeface="メイリオ" pitchFamily="34" charset="-122"/>
                <a:cs typeface="メイリオ" pitchFamily="34" charset="-120"/>
              </a:rPr>
              <a:t>13</a:t>
            </a:r>
            <a:endParaRPr lang="en-US" sz="1300" dirty="0"/>
          </a:p>
        </p:txBody>
      </p:sp>
      <p:sp>
        <p:nvSpPr>
          <p:cNvPr id="5" name="Text 3"/>
          <p:cNvSpPr/>
          <p:nvPr/>
        </p:nvSpPr>
        <p:spPr>
          <a:xfrm>
            <a:off x="731520" y="109728"/>
            <a:ext cx="8046720" cy="201168"/>
          </a:xfrm>
          <a:prstGeom prst="rect">
            <a:avLst/>
          </a:prstGeom>
          <a:noFill/>
          <a:ln/>
        </p:spPr>
        <p:txBody>
          <a:bodyPr wrap="square" rtlCol="0" anchor="ctr"/>
          <a:lstStyle/>
          <a:p>
            <a:pPr indent="0" marL="0">
              <a:buNone/>
            </a:pPr>
            <a:r>
              <a:rPr lang="en-US" sz="850" i="1" dirty="0">
                <a:solidFill>
                  <a:srgbClr val="AAC4E0"/>
                </a:solidFill>
                <a:latin typeface="メイリオ" pitchFamily="34" charset="0"/>
                <a:ea typeface="メイリオ" pitchFamily="34" charset="-122"/>
                <a:cs typeface="メイリオ" pitchFamily="34" charset="-120"/>
              </a:rPr>
              <a:t>P46 清算配当率 ― 回答済（会計士武田）</a:t>
            </a:r>
            <a:endParaRPr lang="en-US" sz="850" dirty="0"/>
          </a:p>
        </p:txBody>
      </p:sp>
      <p:sp>
        <p:nvSpPr>
          <p:cNvPr id="6" name="Shape 4"/>
          <p:cNvSpPr/>
          <p:nvPr/>
        </p:nvSpPr>
        <p:spPr>
          <a:xfrm>
            <a:off x="10058400" y="91440"/>
            <a:ext cx="1828800" cy="384048"/>
          </a:xfrm>
          <a:prstGeom prst="rect">
            <a:avLst/>
          </a:prstGeom>
          <a:solidFill>
            <a:srgbClr val="1E6E5E"/>
          </a:solidFill>
          <a:ln w="12700">
            <a:solidFill>
              <a:srgbClr val="1E6E5E"/>
            </a:solidFill>
            <a:prstDash val="solid"/>
          </a:ln>
        </p:spPr>
      </p:sp>
      <p:sp>
        <p:nvSpPr>
          <p:cNvPr id="7" name="Text 5"/>
          <p:cNvSpPr/>
          <p:nvPr/>
        </p:nvSpPr>
        <p:spPr>
          <a:xfrm>
            <a:off x="10058400" y="91440"/>
            <a:ext cx="182880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メイリオ" pitchFamily="34" charset="0"/>
                <a:ea typeface="メイリオ" pitchFamily="34" charset="-122"/>
                <a:cs typeface="メイリオ" pitchFamily="34" charset="-120"/>
              </a:rPr>
              <a:t>回答済</a:t>
            </a:r>
            <a:endParaRPr lang="en-US" sz="1000" dirty="0"/>
          </a:p>
        </p:txBody>
      </p:sp>
      <p:sp>
        <p:nvSpPr>
          <p:cNvPr id="8" name="Shape 6"/>
          <p:cNvSpPr/>
          <p:nvPr/>
        </p:nvSpPr>
        <p:spPr>
          <a:xfrm>
            <a:off x="228600" y="640080"/>
            <a:ext cx="11704320" cy="36576"/>
          </a:xfrm>
          <a:prstGeom prst="rect">
            <a:avLst/>
          </a:prstGeom>
          <a:solidFill>
            <a:srgbClr val="1E6E5E"/>
          </a:solidFill>
          <a:ln w="12700">
            <a:solidFill>
              <a:srgbClr val="1E6E5E"/>
            </a:solidFill>
            <a:prstDash val="solid"/>
          </a:ln>
        </p:spPr>
      </p:sp>
      <p:sp>
        <p:nvSpPr>
          <p:cNvPr id="9" name="Shape 7"/>
          <p:cNvSpPr/>
          <p:nvPr/>
        </p:nvSpPr>
        <p:spPr>
          <a:xfrm>
            <a:off x="228600" y="676656"/>
            <a:ext cx="11704320" cy="411480"/>
          </a:xfrm>
          <a:prstGeom prst="rect">
            <a:avLst/>
          </a:prstGeom>
          <a:solidFill>
            <a:srgbClr val="FFFFFF"/>
          </a:solidFill>
          <a:ln w="12700">
            <a:solidFill>
              <a:srgbClr val="D0D8E8"/>
            </a:solidFill>
            <a:prstDash val="solid"/>
          </a:ln>
        </p:spPr>
      </p:sp>
      <p:sp>
        <p:nvSpPr>
          <p:cNvPr id="10" name="Text 8"/>
          <p:cNvSpPr/>
          <p:nvPr/>
        </p:nvSpPr>
        <p:spPr>
          <a:xfrm>
            <a:off x="274320" y="694944"/>
            <a:ext cx="182880" cy="182880"/>
          </a:xfrm>
          <a:prstGeom prst="rect">
            <a:avLst/>
          </a:prstGeom>
          <a:noFill/>
          <a:ln/>
        </p:spPr>
        <p:txBody>
          <a:bodyPr wrap="square" lIns="0" tIns="0" rIns="0" bIns="0" rtlCol="0" anchor="ctr"/>
          <a:lstStyle/>
          <a:p>
            <a:pPr indent="0" marL="0">
              <a:buNone/>
            </a:pPr>
            <a:r>
              <a:rPr lang="en-US" sz="800" b="1" dirty="0">
                <a:solidFill>
                  <a:srgbClr val="1E6E5E"/>
                </a:solidFill>
                <a:latin typeface="メイリオ" pitchFamily="34" charset="0"/>
                <a:ea typeface="メイリオ" pitchFamily="34" charset="-122"/>
                <a:cs typeface="メイリオ" pitchFamily="34" charset="-120"/>
              </a:rPr>
              <a:t>Q</a:t>
            </a:r>
            <a:endParaRPr lang="en-US" sz="800" dirty="0"/>
          </a:p>
        </p:txBody>
      </p:sp>
      <p:sp>
        <p:nvSpPr>
          <p:cNvPr id="11" name="Text 9"/>
          <p:cNvSpPr/>
          <p:nvPr/>
        </p:nvSpPr>
        <p:spPr>
          <a:xfrm>
            <a:off x="475488" y="694944"/>
            <a:ext cx="11247120" cy="356616"/>
          </a:xfrm>
          <a:prstGeom prst="rect">
            <a:avLst/>
          </a:prstGeom>
          <a:noFill/>
          <a:ln/>
        </p:spPr>
        <p:txBody>
          <a:bodyPr wrap="square" lIns="0" tIns="0" rIns="0" bIns="0" rtlCol="0" anchor="ctr"/>
          <a:lstStyle/>
          <a:p>
            <a:pPr indent="0" marL="0">
              <a:lnSpc>
                <a:spcPct val="125000"/>
              </a:lnSpc>
              <a:buNone/>
            </a:pPr>
            <a:r>
              <a:rPr lang="en-US" sz="900" dirty="0">
                <a:solidFill>
                  <a:srgbClr val="1A1A2E"/>
                </a:solidFill>
                <a:latin typeface="メイリオ" pitchFamily="34" charset="0"/>
                <a:ea typeface="メイリオ" pitchFamily="34" charset="-122"/>
                <a:cs typeface="メイリオ" pitchFamily="34" charset="-120"/>
              </a:rPr>
              <a:t>建物付属設備の清算価値が「-」となっていますが、理由を教えてください。</a:t>
            </a:r>
            <a:endParaRPr lang="en-US" sz="900" dirty="0"/>
          </a:p>
        </p:txBody>
      </p:sp>
      <p:sp>
        <p:nvSpPr>
          <p:cNvPr id="12" name="Shape 10"/>
          <p:cNvSpPr/>
          <p:nvPr/>
        </p:nvSpPr>
        <p:spPr>
          <a:xfrm>
            <a:off x="228600" y="1161288"/>
            <a:ext cx="11704320" cy="310896"/>
          </a:xfrm>
          <a:prstGeom prst="rect">
            <a:avLst/>
          </a:prstGeom>
          <a:solidFill>
            <a:srgbClr val="2D6A4F"/>
          </a:solidFill>
          <a:ln w="12700">
            <a:solidFill>
              <a:srgbClr val="2D6A4F"/>
            </a:solidFill>
            <a:prstDash val="solid"/>
          </a:ln>
        </p:spPr>
      </p:sp>
      <p:sp>
        <p:nvSpPr>
          <p:cNvPr id="13" name="Text 11"/>
          <p:cNvSpPr/>
          <p:nvPr/>
        </p:nvSpPr>
        <p:spPr>
          <a:xfrm>
            <a:off x="320040" y="1161288"/>
            <a:ext cx="11521440" cy="310896"/>
          </a:xfrm>
          <a:prstGeom prst="rect">
            <a:avLst/>
          </a:prstGeom>
          <a:noFill/>
          <a:ln/>
        </p:spPr>
        <p:txBody>
          <a:bodyPr wrap="square" lIns="0" tIns="0" rIns="0" bIns="0" rtlCol="0" anchor="ctr"/>
          <a:lstStyle/>
          <a:p>
            <a:pPr indent="0" marL="0">
              <a:buNone/>
            </a:pPr>
            <a:r>
              <a:rPr lang="en-US" sz="1000" b="1" dirty="0">
                <a:solidFill>
                  <a:srgbClr val="FFFFFF"/>
                </a:solidFill>
                <a:latin typeface="メイリオ" pitchFamily="34" charset="0"/>
                <a:ea typeface="メイリオ" pitchFamily="34" charset="-122"/>
                <a:cs typeface="メイリオ" pitchFamily="34" charset="-120"/>
              </a:rPr>
              <a:t>📋  武田会計士（RtoCパートナーズ）の初期回答</a:t>
            </a:r>
            <a:endParaRPr lang="en-US" sz="1000" dirty="0"/>
          </a:p>
        </p:txBody>
      </p:sp>
      <p:sp>
        <p:nvSpPr>
          <p:cNvPr id="14" name="Shape 12"/>
          <p:cNvSpPr/>
          <p:nvPr/>
        </p:nvSpPr>
        <p:spPr>
          <a:xfrm>
            <a:off x="228600" y="1472184"/>
            <a:ext cx="11704320" cy="5129784"/>
          </a:xfrm>
          <a:prstGeom prst="rect">
            <a:avLst/>
          </a:prstGeom>
          <a:solidFill>
            <a:srgbClr val="E8F4F0"/>
          </a:solidFill>
          <a:ln w="12700">
            <a:solidFill>
              <a:srgbClr val="B8DDD0"/>
            </a:solidFill>
            <a:prstDash val="solid"/>
          </a:ln>
        </p:spPr>
      </p:sp>
      <p:sp>
        <p:nvSpPr>
          <p:cNvPr id="15" name="Text 13"/>
          <p:cNvSpPr/>
          <p:nvPr/>
        </p:nvSpPr>
        <p:spPr>
          <a:xfrm>
            <a:off x="320040" y="1517904"/>
            <a:ext cx="11521440" cy="5038344"/>
          </a:xfrm>
          <a:prstGeom prst="rect">
            <a:avLst/>
          </a:prstGeom>
          <a:noFill/>
          <a:ln/>
        </p:spPr>
        <p:txBody>
          <a:bodyPr wrap="square" lIns="0" tIns="0" rIns="0" bIns="0" rtlCol="0" anchor="t"/>
          <a:lstStyle/>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建物附属設備は、全て賃借しているスタジオの造作となります。</a:t>
            </a:r>
            <a:endParaRPr lang="en-US" sz="900" dirty="0"/>
          </a:p>
          <a:p>
            <a:pPr indent="0" marL="0">
              <a:lnSpc>
                <a:spcPct val="130000"/>
              </a:lnSpc>
              <a:buNone/>
            </a:pPr>
            <a:r>
              <a:rPr lang="en-US" sz="900" dirty="0">
                <a:solidFill>
                  <a:srgbClr val="1A1A2E"/>
                </a:solidFill>
                <a:latin typeface="メイリオ" pitchFamily="34" charset="0"/>
                <a:ea typeface="メイリオ" pitchFamily="34" charset="-122"/>
                <a:cs typeface="メイリオ" pitchFamily="34" charset="-120"/>
              </a:rPr>
              <a:t>そのため、破産時には撤去することとなりますので、清算価値は0円となっております。</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QAシート_回答_大丸プランニング</dc:title>
  <dc:subject>PptxGenJS Presentation</dc:subject>
  <dc:creator>PptxGenJS</dc:creator>
  <cp:lastModifiedBy>PptxGenJS</cp:lastModifiedBy>
  <cp:revision>1</cp:revision>
  <dcterms:created xsi:type="dcterms:W3CDTF">2026-03-28T01:31:53Z</dcterms:created>
  <dcterms:modified xsi:type="dcterms:W3CDTF">2026-03-28T01:31:53Z</dcterms:modified>
</cp:coreProperties>
</file>